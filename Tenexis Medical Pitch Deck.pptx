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57" y="31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56660" y="4782310"/>
            <a:ext cx="8990778" cy="130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4356" y="877979"/>
            <a:ext cx="9273540" cy="869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9356" y="3540202"/>
            <a:ext cx="8281669" cy="5291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3282" y="1054543"/>
            <a:ext cx="11309350" cy="920026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48748" y="652047"/>
            <a:ext cx="10465369" cy="919472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20959" y="4649008"/>
            <a:ext cx="4125949" cy="9194724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701207" y="1406617"/>
            <a:ext cx="11309352" cy="849611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349840" y="1861225"/>
            <a:ext cx="7121202" cy="7120702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10723436" y="1071040"/>
            <a:ext cx="8017973" cy="9145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rtl="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3300" kern="1200" spc="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</a:t>
            </a:r>
            <a:r>
              <a:rPr lang="en-US" sz="3300" kern="1200" spc="2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2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en-US" sz="3300" kern="1200" spc="-43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</a:t>
            </a:r>
            <a:r>
              <a:rPr lang="en-US" sz="3300" kern="1200" spc="-4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sz="3300" kern="1200" spc="-4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ICAL</a:t>
            </a:r>
            <a:r>
              <a:rPr lang="en-US" sz="3300" kern="1200" spc="2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REVO</a:t>
            </a:r>
            <a:r>
              <a:rPr lang="en-US" sz="3300" kern="1200" spc="-3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LUTION</a:t>
            </a:r>
            <a:endParaRPr lang="en-US" sz="3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795"/>
              </a:spcBef>
              <a:buFont typeface="Arial" panose="020B0604020202020204" pitchFamily="34" charset="0"/>
              <a:buChar char="•"/>
            </a:pPr>
            <a:endParaRPr lang="en-US" sz="3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3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Providing</a:t>
            </a:r>
            <a:r>
              <a:rPr lang="en-US" sz="3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End-</a:t>
            </a:r>
            <a:r>
              <a:rPr lang="en-US" sz="3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to-</a:t>
            </a:r>
            <a:r>
              <a:rPr lang="en-US" sz="3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en-US" sz="33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Operating</a:t>
            </a:r>
            <a:r>
              <a:rPr lang="en-US" sz="3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Room</a:t>
            </a:r>
            <a:r>
              <a:rPr lang="en-US" sz="3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</a:t>
            </a:r>
            <a:r>
              <a:rPr lang="en-US" sz="3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3300" kern="1200" spc="-2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Best-</a:t>
            </a:r>
            <a:r>
              <a:rPr lang="en-US" sz="3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in-</a:t>
            </a:r>
            <a:r>
              <a:rPr lang="en-US" sz="3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en-US" sz="3300" kern="1200" spc="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Orthopedic</a:t>
            </a:r>
            <a:r>
              <a:rPr lang="en-US" sz="3300" kern="1200" spc="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</a:t>
            </a:r>
            <a:endParaRPr lang="en-US" sz="3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60D280-5520-2467-D29B-99924A5BE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005" y="4201598"/>
            <a:ext cx="5462179" cy="2981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05340" y="821812"/>
            <a:ext cx="16329079" cy="9665725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46761"/>
            <a:ext cx="20104100" cy="30158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2513012" y="4578716"/>
            <a:ext cx="15078075" cy="2277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21945" algn="ctr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 spc="-145">
                <a:solidFill>
                  <a:schemeClr val="bg2"/>
                </a:solidFill>
                <a:latin typeface="+mj-lt"/>
                <a:ea typeface="+mj-ea"/>
                <a:cs typeface="+mj-cs"/>
              </a:rPr>
              <a:t>Meet</a:t>
            </a:r>
            <a:r>
              <a:rPr lang="en-US" sz="6600" kern="1200" spc="-310">
                <a:solidFill>
                  <a:schemeClr val="bg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110">
                <a:solidFill>
                  <a:schemeClr val="bg2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en-US" sz="6600" kern="1200" spc="-740">
                <a:solidFill>
                  <a:schemeClr val="bg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1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Founders</a:t>
            </a:r>
            <a:endParaRPr lang="en-US" sz="66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3012" y="7413907"/>
            <a:ext cx="15078075" cy="1256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rtl="0">
              <a:lnSpc>
                <a:spcPct val="90000"/>
              </a:lnSpc>
              <a:spcBef>
                <a:spcPts val="1000"/>
              </a:spcBef>
            </a:pPr>
            <a:r>
              <a:rPr lang="en-US" sz="30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Combining</a:t>
            </a:r>
            <a:r>
              <a:rPr lang="en-US" sz="30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Elite</a:t>
            </a:r>
            <a:r>
              <a:rPr lang="en-US" sz="30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Clinical</a:t>
            </a:r>
            <a:r>
              <a:rPr lang="en-US" sz="30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Operations</a:t>
            </a:r>
            <a:r>
              <a:rPr lang="en-US" sz="3000" kern="1200" spc="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3000" kern="1200" spc="-3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Athletic</a:t>
            </a:r>
            <a:r>
              <a:rPr lang="en-US" sz="30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Recovery</a:t>
            </a:r>
            <a:r>
              <a:rPr lang="en-US" sz="30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Expertise</a:t>
            </a:r>
            <a:endParaRPr lang="en-US" sz="3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873871" y="827868"/>
            <a:ext cx="8778584" cy="2709379"/>
          </a:xfrm>
          <a:prstGeom prst="rect">
            <a:avLst/>
          </a:prstGeom>
        </p:spPr>
        <p:txBody>
          <a:bodyPr vert="horz" lIns="0" tIns="13970" rIns="0" bIns="0" rtlCol="0" anchor="b">
            <a:normAutofit/>
          </a:bodyPr>
          <a:lstStyle/>
          <a:p>
            <a:pPr marL="12700">
              <a:spcBef>
                <a:spcPts val="110"/>
              </a:spcBef>
            </a:pPr>
            <a:r>
              <a:rPr lang="en-IN" sz="6600" spc="165" dirty="0"/>
              <a:t>Taha:</a:t>
            </a:r>
            <a:r>
              <a:rPr lang="en-IN" sz="6600" spc="-75" dirty="0"/>
              <a:t> </a:t>
            </a:r>
            <a:r>
              <a:rPr lang="en-IN" sz="6600" spc="114" dirty="0"/>
              <a:t>Global</a:t>
            </a:r>
            <a:r>
              <a:rPr lang="en-IN" sz="6600" spc="-120" dirty="0"/>
              <a:t> </a:t>
            </a:r>
            <a:r>
              <a:rPr lang="en-IN" sz="6600" spc="245" dirty="0"/>
              <a:t>Clinical</a:t>
            </a:r>
            <a:r>
              <a:rPr lang="en-IN" sz="6600" spc="75" dirty="0"/>
              <a:t> </a:t>
            </a:r>
            <a:r>
              <a:rPr lang="en-IN" sz="6600" spc="185" dirty="0"/>
              <a:t>Specialist</a:t>
            </a:r>
            <a:endParaRPr lang="en-IN" sz="660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887930" y="3967497"/>
            <a:ext cx="8764525" cy="5829614"/>
          </a:xfrm>
          <a:prstGeom prst="rect">
            <a:avLst/>
          </a:prstGeom>
        </p:spPr>
        <p:txBody>
          <a:bodyPr vert="horz" lIns="0" tIns="11430" rIns="0" bIns="0" rtlCol="0" anchor="t">
            <a:normAutofit/>
          </a:bodyPr>
          <a:lstStyle/>
          <a:p>
            <a:pPr marL="12700">
              <a:lnSpc>
                <a:spcPct val="90000"/>
              </a:lnSpc>
              <a:spcBef>
                <a:spcPts val="90"/>
              </a:spcBef>
            </a:pPr>
            <a:r>
              <a:rPr lang="en-US" sz="3100" dirty="0"/>
              <a:t>Elite</a:t>
            </a:r>
            <a:r>
              <a:rPr lang="en-US" sz="3100" spc="5" dirty="0"/>
              <a:t> </a:t>
            </a:r>
            <a:r>
              <a:rPr lang="en-US" sz="3100" spc="100" dirty="0"/>
              <a:t>Operating</a:t>
            </a:r>
            <a:r>
              <a:rPr lang="en-US" sz="3100" spc="409" dirty="0"/>
              <a:t> </a:t>
            </a:r>
            <a:r>
              <a:rPr lang="en-US" sz="3100" spc="140" dirty="0"/>
              <a:t>Room</a:t>
            </a:r>
            <a:r>
              <a:rPr lang="en-US" sz="3100" spc="-110" dirty="0"/>
              <a:t> </a:t>
            </a:r>
            <a:r>
              <a:rPr lang="en-US" sz="3100" spc="-10" dirty="0"/>
              <a:t>Expertise</a:t>
            </a:r>
          </a:p>
          <a:p>
            <a:pPr marL="24130" marR="5080" indent="5080">
              <a:lnSpc>
                <a:spcPct val="90000"/>
              </a:lnSpc>
              <a:spcBef>
                <a:spcPts val="1670"/>
              </a:spcBef>
            </a:pPr>
            <a:r>
              <a:rPr lang="en-US" sz="3100" spc="-105" dirty="0"/>
              <a:t>Taha</a:t>
            </a:r>
            <a:r>
              <a:rPr lang="en-US" sz="3100" spc="-135" dirty="0"/>
              <a:t> </a:t>
            </a:r>
            <a:r>
              <a:rPr lang="en-US" sz="3100" spc="-35" dirty="0"/>
              <a:t>brings</a:t>
            </a:r>
            <a:r>
              <a:rPr lang="en-US" sz="3100" spc="-105" dirty="0"/>
              <a:t> </a:t>
            </a:r>
            <a:r>
              <a:rPr lang="en-US" sz="3100" spc="-75" dirty="0"/>
              <a:t>over</a:t>
            </a:r>
            <a:r>
              <a:rPr lang="en-US" sz="3100" spc="-50" dirty="0"/>
              <a:t> </a:t>
            </a:r>
            <a:r>
              <a:rPr lang="en-US" sz="3100" spc="-10" dirty="0"/>
              <a:t>10</a:t>
            </a:r>
            <a:r>
              <a:rPr lang="en-US" sz="3100" spc="-210" dirty="0"/>
              <a:t> </a:t>
            </a:r>
            <a:r>
              <a:rPr lang="en-US" sz="3100" spc="-20" dirty="0"/>
              <a:t>years</a:t>
            </a:r>
            <a:r>
              <a:rPr lang="en-US" sz="3100" spc="-120" dirty="0"/>
              <a:t> </a:t>
            </a:r>
            <a:r>
              <a:rPr lang="en-US" sz="3100" spc="-50" dirty="0"/>
              <a:t>of</a:t>
            </a:r>
            <a:r>
              <a:rPr lang="en-US" sz="3100" spc="-150" dirty="0"/>
              <a:t> </a:t>
            </a:r>
            <a:r>
              <a:rPr lang="en-US" sz="3100" dirty="0"/>
              <a:t>intensive,</a:t>
            </a:r>
            <a:r>
              <a:rPr lang="en-US" sz="3100" spc="-105" dirty="0"/>
              <a:t> </a:t>
            </a:r>
            <a:r>
              <a:rPr lang="en-US" sz="3100" spc="-50" dirty="0"/>
              <a:t>global</a:t>
            </a:r>
            <a:r>
              <a:rPr lang="en-US" sz="3100" spc="-135" dirty="0"/>
              <a:t> </a:t>
            </a:r>
            <a:r>
              <a:rPr lang="en-US" sz="3100" dirty="0"/>
              <a:t>experience</a:t>
            </a:r>
            <a:r>
              <a:rPr lang="en-US" sz="3100" spc="35" dirty="0"/>
              <a:t> </a:t>
            </a:r>
            <a:r>
              <a:rPr lang="en-US" sz="3100" spc="-20" dirty="0"/>
              <a:t>within</a:t>
            </a:r>
            <a:r>
              <a:rPr lang="en-US" sz="3100" spc="-120" dirty="0"/>
              <a:t> </a:t>
            </a:r>
            <a:r>
              <a:rPr lang="en-US" sz="3100" spc="-25" dirty="0"/>
              <a:t>the </a:t>
            </a:r>
            <a:r>
              <a:rPr lang="en-US" sz="3100" spc="-55" dirty="0"/>
              <a:t>orthopedic</a:t>
            </a:r>
            <a:r>
              <a:rPr lang="en-US" sz="3100" spc="-85" dirty="0"/>
              <a:t> </a:t>
            </a:r>
            <a:r>
              <a:rPr lang="en-US" sz="3100" spc="-60" dirty="0"/>
              <a:t>sector</a:t>
            </a:r>
            <a:r>
              <a:rPr lang="en-US" sz="3100" spc="-75" dirty="0"/>
              <a:t> </a:t>
            </a:r>
            <a:r>
              <a:rPr lang="en-US" sz="3100" spc="-50" dirty="0"/>
              <a:t>representing</a:t>
            </a:r>
            <a:r>
              <a:rPr lang="en-US" sz="3100" spc="-85" dirty="0"/>
              <a:t> </a:t>
            </a:r>
            <a:r>
              <a:rPr lang="en-US" sz="3100" spc="-55" dirty="0"/>
              <a:t>tier-</a:t>
            </a:r>
            <a:r>
              <a:rPr lang="en-US" sz="3100" spc="-60" dirty="0"/>
              <a:t>one</a:t>
            </a:r>
            <a:r>
              <a:rPr lang="en-US" sz="3100" spc="-75" dirty="0"/>
              <a:t> </a:t>
            </a:r>
            <a:r>
              <a:rPr lang="en-US" sz="3100" spc="-40" dirty="0"/>
              <a:t>international</a:t>
            </a:r>
            <a:r>
              <a:rPr lang="en-US" sz="3100" spc="100" dirty="0"/>
              <a:t> </a:t>
            </a:r>
            <a:r>
              <a:rPr lang="en-US" sz="3100" spc="-10" dirty="0"/>
              <a:t>biomedical brands.</a:t>
            </a:r>
            <a:endParaRPr lang="en-US" sz="3100" dirty="0"/>
          </a:p>
          <a:p>
            <a:pPr marL="20955" marR="414655">
              <a:lnSpc>
                <a:spcPct val="90000"/>
              </a:lnSpc>
              <a:spcBef>
                <a:spcPts val="1360"/>
              </a:spcBef>
            </a:pPr>
            <a:r>
              <a:rPr lang="en-US" sz="3100" dirty="0"/>
              <a:t>Having</a:t>
            </a:r>
            <a:r>
              <a:rPr lang="en-US" sz="3100" spc="-65" dirty="0"/>
              <a:t> </a:t>
            </a:r>
            <a:r>
              <a:rPr lang="en-US" sz="3100" spc="-80" dirty="0"/>
              <a:t>served</a:t>
            </a:r>
            <a:r>
              <a:rPr lang="en-US" sz="3100" spc="-10" dirty="0"/>
              <a:t> </a:t>
            </a:r>
            <a:r>
              <a:rPr lang="en-US" sz="3100" spc="-20" dirty="0"/>
              <a:t>with</a:t>
            </a:r>
            <a:r>
              <a:rPr lang="en-US" sz="3100" spc="-140" dirty="0"/>
              <a:t> </a:t>
            </a:r>
            <a:r>
              <a:rPr lang="en-US" sz="3100" spc="-30" dirty="0"/>
              <a:t>giants</a:t>
            </a:r>
            <a:r>
              <a:rPr lang="en-US" sz="3100" dirty="0"/>
              <a:t> </a:t>
            </a:r>
            <a:r>
              <a:rPr lang="en-US" sz="3100" spc="-55" dirty="0"/>
              <a:t>like</a:t>
            </a:r>
            <a:r>
              <a:rPr lang="en-US" sz="3100" spc="-175" dirty="0"/>
              <a:t> </a:t>
            </a:r>
            <a:r>
              <a:rPr lang="en-US" sz="3100" spc="-35" dirty="0"/>
              <a:t>Medtronic,</a:t>
            </a:r>
            <a:r>
              <a:rPr lang="en-US" sz="3100" spc="-125" dirty="0"/>
              <a:t> </a:t>
            </a:r>
            <a:r>
              <a:rPr lang="en-US" sz="3100" dirty="0"/>
              <a:t>Arthrex,</a:t>
            </a:r>
            <a:r>
              <a:rPr lang="en-US" sz="3100" spc="-175" dirty="0"/>
              <a:t> </a:t>
            </a:r>
            <a:r>
              <a:rPr lang="en-US" sz="3100" spc="-45" dirty="0"/>
              <a:t>Conmed,</a:t>
            </a:r>
            <a:r>
              <a:rPr lang="en-US" sz="3100" spc="-90" dirty="0"/>
              <a:t> </a:t>
            </a:r>
            <a:r>
              <a:rPr lang="en-US" sz="3100" spc="-25" dirty="0"/>
              <a:t>and </a:t>
            </a:r>
            <a:r>
              <a:rPr lang="en-US" sz="3100" dirty="0"/>
              <a:t>Meril</a:t>
            </a:r>
            <a:r>
              <a:rPr lang="en-US" sz="3100" spc="-140" dirty="0"/>
              <a:t> </a:t>
            </a:r>
            <a:r>
              <a:rPr lang="en-US" sz="3100" dirty="0"/>
              <a:t>Life</a:t>
            </a:r>
            <a:r>
              <a:rPr lang="en-US" sz="3100" spc="-135" dirty="0"/>
              <a:t> </a:t>
            </a:r>
            <a:r>
              <a:rPr lang="en-US" sz="3100" dirty="0"/>
              <a:t>Sciences,</a:t>
            </a:r>
            <a:r>
              <a:rPr lang="en-US" sz="3100" spc="-90" dirty="0"/>
              <a:t> </a:t>
            </a:r>
            <a:r>
              <a:rPr lang="en-US" sz="3100" spc="-110" dirty="0"/>
              <a:t>he</a:t>
            </a:r>
            <a:r>
              <a:rPr lang="en-US" sz="3100" spc="-165" dirty="0"/>
              <a:t> </a:t>
            </a:r>
            <a:r>
              <a:rPr lang="en-US" sz="3100" spc="-80" dirty="0"/>
              <a:t>has</a:t>
            </a:r>
            <a:r>
              <a:rPr lang="en-US" sz="3100" spc="-70" dirty="0"/>
              <a:t> </a:t>
            </a:r>
            <a:r>
              <a:rPr lang="en-US" sz="3100" spc="-50" dirty="0"/>
              <a:t>technical</a:t>
            </a:r>
            <a:r>
              <a:rPr lang="en-US" sz="3100" spc="50" dirty="0"/>
              <a:t> </a:t>
            </a:r>
            <a:r>
              <a:rPr lang="en-US" sz="3100" spc="-110" dirty="0"/>
              <a:t>and</a:t>
            </a:r>
            <a:r>
              <a:rPr lang="en-US" sz="3100" spc="-75" dirty="0"/>
              <a:t> </a:t>
            </a:r>
            <a:r>
              <a:rPr lang="en-US" sz="3100" spc="-25" dirty="0"/>
              <a:t>clinical</a:t>
            </a:r>
            <a:r>
              <a:rPr lang="en-US" sz="3100" spc="25" dirty="0"/>
              <a:t> </a:t>
            </a:r>
            <a:r>
              <a:rPr lang="en-US" sz="3100" spc="-60" dirty="0"/>
              <a:t>mastery</a:t>
            </a:r>
            <a:r>
              <a:rPr lang="en-US" sz="3100" spc="-30" dirty="0"/>
              <a:t> </a:t>
            </a:r>
            <a:r>
              <a:rPr lang="en-US" sz="3100" spc="-20" dirty="0"/>
              <a:t>over Arthroplasty</a:t>
            </a:r>
            <a:r>
              <a:rPr lang="en-US" sz="3100" spc="-30" dirty="0"/>
              <a:t> </a:t>
            </a:r>
            <a:r>
              <a:rPr lang="en-US" sz="3100" spc="-110" dirty="0"/>
              <a:t>and</a:t>
            </a:r>
            <a:r>
              <a:rPr lang="en-US" sz="3100" spc="-75" dirty="0"/>
              <a:t> </a:t>
            </a:r>
            <a:r>
              <a:rPr lang="en-US" sz="3100" spc="-10" dirty="0"/>
              <a:t>Arthroscopy.</a:t>
            </a:r>
            <a:endParaRPr lang="en-US" sz="3100" dirty="0"/>
          </a:p>
          <a:p>
            <a:pPr marL="23495" marR="27940" indent="-2540">
              <a:lnSpc>
                <a:spcPct val="90000"/>
              </a:lnSpc>
              <a:spcBef>
                <a:spcPts val="1545"/>
              </a:spcBef>
            </a:pPr>
            <a:r>
              <a:rPr lang="en-US" sz="3100" spc="-65" dirty="0"/>
              <a:t>H</a:t>
            </a:r>
            <a:r>
              <a:rPr lang="en-US" sz="3100" spc="-240" dirty="0"/>
              <a:t> </a:t>
            </a:r>
            <a:r>
              <a:rPr lang="en-US" sz="3100" spc="-5" dirty="0"/>
              <a:t>i</a:t>
            </a:r>
            <a:r>
              <a:rPr lang="en-US" sz="3100" dirty="0"/>
              <a:t>s</a:t>
            </a:r>
            <a:r>
              <a:rPr lang="en-US" sz="3100" spc="-130" dirty="0"/>
              <a:t> </a:t>
            </a:r>
            <a:r>
              <a:rPr lang="en-US" sz="3100" spc="-105" dirty="0"/>
              <a:t>deep</a:t>
            </a:r>
            <a:r>
              <a:rPr lang="en-US" sz="3100" spc="-200" dirty="0"/>
              <a:t> </a:t>
            </a:r>
            <a:r>
              <a:rPr lang="en-US" sz="3100" spc="-65" dirty="0"/>
              <a:t>understanding</a:t>
            </a:r>
            <a:r>
              <a:rPr lang="en-US" sz="3100" spc="70" dirty="0"/>
              <a:t> </a:t>
            </a:r>
            <a:r>
              <a:rPr lang="en-US" sz="3100" spc="-45" dirty="0"/>
              <a:t>of</a:t>
            </a:r>
            <a:r>
              <a:rPr lang="en-US" sz="3100" spc="-90" dirty="0"/>
              <a:t> </a:t>
            </a:r>
            <a:r>
              <a:rPr lang="en-US" sz="3100" spc="-55" dirty="0"/>
              <a:t>surgical</a:t>
            </a:r>
            <a:r>
              <a:rPr lang="en-US" sz="3100" spc="70" dirty="0"/>
              <a:t> </a:t>
            </a:r>
            <a:r>
              <a:rPr lang="en-US" sz="3100" spc="-75" dirty="0"/>
              <a:t>dynamics</a:t>
            </a:r>
            <a:r>
              <a:rPr lang="en-US" sz="3100" spc="80" dirty="0"/>
              <a:t> </a:t>
            </a:r>
            <a:r>
              <a:rPr lang="en-US" sz="3100" spc="-105" dirty="0"/>
              <a:t>and</a:t>
            </a:r>
            <a:r>
              <a:rPr lang="en-US" sz="3100" spc="-140" dirty="0"/>
              <a:t> </a:t>
            </a:r>
            <a:r>
              <a:rPr lang="en-US" sz="3100" spc="-35" dirty="0"/>
              <a:t>close</a:t>
            </a:r>
            <a:r>
              <a:rPr lang="en-US" sz="3100" spc="-145" dirty="0"/>
              <a:t> </a:t>
            </a:r>
            <a:r>
              <a:rPr lang="en-US" sz="3100" spc="-45" dirty="0"/>
              <a:t>relationships</a:t>
            </a:r>
            <a:r>
              <a:rPr lang="en-US" sz="3100" spc="-30" dirty="0"/>
              <a:t> </a:t>
            </a:r>
            <a:r>
              <a:rPr lang="en-US" sz="3100" spc="-15" dirty="0"/>
              <a:t>with</a:t>
            </a:r>
            <a:r>
              <a:rPr lang="en-US" sz="3100" spc="-120" dirty="0"/>
              <a:t> </a:t>
            </a:r>
            <a:r>
              <a:rPr lang="en-US" sz="3100" spc="-75" dirty="0"/>
              <a:t>surgeons</a:t>
            </a:r>
            <a:r>
              <a:rPr lang="en-US" sz="3100" spc="35" dirty="0"/>
              <a:t> </a:t>
            </a:r>
            <a:r>
              <a:rPr lang="en-US" sz="3100" spc="-60" dirty="0"/>
              <a:t>across</a:t>
            </a:r>
            <a:r>
              <a:rPr lang="en-US" sz="3100" spc="-50" dirty="0"/>
              <a:t> </a:t>
            </a:r>
            <a:r>
              <a:rPr lang="en-US" sz="3100" spc="-75" dirty="0"/>
              <a:t>Europe,</a:t>
            </a:r>
            <a:r>
              <a:rPr lang="en-US" sz="3100" spc="-70" dirty="0"/>
              <a:t> </a:t>
            </a:r>
            <a:r>
              <a:rPr lang="en-US" sz="3100" spc="-45" dirty="0"/>
              <a:t>Africa,</a:t>
            </a:r>
            <a:r>
              <a:rPr lang="en-US" sz="3100" spc="-75" dirty="0"/>
              <a:t> </a:t>
            </a:r>
            <a:r>
              <a:rPr lang="en-US" sz="3100" spc="-60" dirty="0"/>
              <a:t>the</a:t>
            </a:r>
            <a:r>
              <a:rPr lang="en-US" sz="3100" spc="-200" dirty="0"/>
              <a:t> </a:t>
            </a:r>
            <a:r>
              <a:rPr lang="en-US" sz="3100" spc="-40" dirty="0"/>
              <a:t>Middle</a:t>
            </a:r>
            <a:r>
              <a:rPr lang="en-US" sz="3100" spc="-120" dirty="0"/>
              <a:t> </a:t>
            </a:r>
            <a:r>
              <a:rPr lang="en-US" sz="3100" spc="-35" dirty="0"/>
              <a:t>East,</a:t>
            </a:r>
            <a:r>
              <a:rPr lang="en-US" sz="3100" spc="-110" dirty="0"/>
              <a:t> </a:t>
            </a:r>
            <a:r>
              <a:rPr lang="en-US" sz="3100" spc="-105" dirty="0"/>
              <a:t>and</a:t>
            </a:r>
            <a:r>
              <a:rPr lang="en-US" sz="3100" spc="-75" dirty="0"/>
              <a:t> </a:t>
            </a:r>
            <a:r>
              <a:rPr lang="en-US" sz="3100" dirty="0"/>
              <a:t>Asia</a:t>
            </a:r>
            <a:r>
              <a:rPr lang="en-US" sz="3100" spc="-140" dirty="0"/>
              <a:t> </a:t>
            </a:r>
            <a:r>
              <a:rPr lang="en-US" sz="3100" spc="-50" dirty="0"/>
              <a:t>drive</a:t>
            </a:r>
            <a:r>
              <a:rPr lang="en-US" sz="3100" spc="-30" dirty="0"/>
              <a:t> </a:t>
            </a:r>
            <a:r>
              <a:rPr lang="en-US" sz="3100" spc="-85" dirty="0"/>
              <a:t>Tenexis'</a:t>
            </a:r>
            <a:r>
              <a:rPr lang="en-US" sz="3100" spc="-5" dirty="0"/>
              <a:t> </a:t>
            </a:r>
            <a:r>
              <a:rPr lang="en-US" sz="3100" spc="-70" dirty="0"/>
              <a:t>operational</a:t>
            </a:r>
            <a:r>
              <a:rPr lang="en-US" sz="3100" spc="140" dirty="0"/>
              <a:t> </a:t>
            </a:r>
            <a:r>
              <a:rPr lang="en-US" sz="3100" spc="-110" dirty="0"/>
              <a:t>excellence.</a:t>
            </a:r>
            <a:endParaRPr lang="en-US" sz="3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8"/>
            <a:ext cx="6748397" cy="11309349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3"/>
            <a:ext cx="6748397" cy="10554682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36"/>
            <a:ext cx="6709063" cy="1055471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16"/>
            <a:ext cx="5955159" cy="1130934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581BE-B1D4-A941-DF3C-4E1C57F98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974" y="2242456"/>
            <a:ext cx="6877030" cy="6877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873871" y="827868"/>
            <a:ext cx="8778584" cy="27093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 spc="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Dr.</a:t>
            </a:r>
            <a:r>
              <a:rPr lang="en-US" sz="6600" kern="1200" spc="-3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1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Khan:</a:t>
            </a:r>
            <a:r>
              <a:rPr lang="en-US" sz="66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19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Rehabilitation</a:t>
            </a:r>
            <a:r>
              <a:rPr lang="en-US" sz="6600" kern="1200" spc="-5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Expert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7930" y="3967497"/>
            <a:ext cx="8764525" cy="58296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indent="-228600" algn="l" rtl="0">
              <a:lnSpc>
                <a:spcPct val="9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2800" kern="1200" spc="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Post-</a:t>
            </a:r>
            <a:r>
              <a:rPr lang="en-US" sz="28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Operative</a:t>
            </a:r>
            <a:r>
              <a:rPr lang="en-US" sz="2800" kern="1200" spc="-3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Recovery</a:t>
            </a:r>
            <a:r>
              <a:rPr lang="en-US" sz="2800" kern="1200" spc="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Leadership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130" marR="38100" indent="-228600" algn="l" rtl="0">
              <a:lnSpc>
                <a:spcPct val="90000"/>
              </a:lnSpc>
              <a:spcBef>
                <a:spcPts val="1670"/>
              </a:spcBef>
              <a:buFont typeface="Arial" panose="020B0604020202020204" pitchFamily="34" charset="0"/>
              <a:buChar char="•"/>
            </a:pPr>
            <a:r>
              <a:rPr lang="en-US" sz="28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Dr.</a:t>
            </a:r>
            <a:r>
              <a:rPr lang="en-US" sz="28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Abdul</a:t>
            </a:r>
            <a:r>
              <a:rPr lang="en-US" sz="2800" kern="1200" spc="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Ahad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Khan</a:t>
            </a: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possesses</a:t>
            </a:r>
            <a:r>
              <a:rPr lang="en-US" sz="28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8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</a:t>
            </a: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academic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</a:t>
            </a:r>
            <a:r>
              <a:rPr lang="en-US" sz="2800" kern="1200" spc="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8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physiotherapis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sz="2800" kern="1200" spc="-2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(BPT)</a:t>
            </a:r>
            <a:r>
              <a:rPr lang="en-US" sz="28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8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runs</a:t>
            </a:r>
            <a:r>
              <a:rPr lang="en-US" sz="28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800" kern="1200" spc="-2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highly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successful</a:t>
            </a:r>
            <a:r>
              <a:rPr lang="en-US" sz="2800" kern="1200" spc="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</a:t>
            </a: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Rehabilitatio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sz="2800" kern="1200" spc="-2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centers.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130" marR="5080" indent="-228600" algn="l" rtl="0">
              <a:lnSpc>
                <a:spcPct val="90000"/>
              </a:lnSpc>
              <a:spcBef>
                <a:spcPts val="1360"/>
              </a:spcBef>
              <a:buFont typeface="Arial" panose="020B0604020202020204" pitchFamily="34" charset="0"/>
              <a:buChar char="•"/>
            </a:pPr>
            <a:r>
              <a:rPr lang="en-US" sz="28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8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day-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to-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</a:t>
            </a:r>
            <a:r>
              <a:rPr lang="en-US" sz="28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</a:t>
            </a:r>
            <a:r>
              <a:rPr lang="en-US" sz="28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involves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managing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athletic</a:t>
            </a:r>
            <a:r>
              <a:rPr lang="en-US" sz="28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conditioning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8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recovery,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en-US" sz="28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closely</a:t>
            </a: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8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world-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competitive</a:t>
            </a:r>
            <a:r>
              <a:rPr lang="en-US" sz="28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athletes</a:t>
            </a:r>
            <a:r>
              <a:rPr lang="en-US" sz="2800" kern="1200" spc="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8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restore</a:t>
            </a:r>
            <a:r>
              <a:rPr lang="en-US" sz="28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peak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performance.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5400" marR="454659" indent="-228600" algn="l" rtl="0">
              <a:lnSpc>
                <a:spcPct val="90000"/>
              </a:lnSpc>
              <a:spcBef>
                <a:spcPts val="1545"/>
              </a:spcBef>
              <a:buFont typeface="Arial" panose="020B0604020202020204" pitchFamily="34" charset="0"/>
              <a:buChar char="•"/>
            </a:pP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8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holistic</a:t>
            </a:r>
            <a:r>
              <a:rPr lang="en-US" sz="28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insight</a:t>
            </a: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ensures 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Tenexis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Medical</a:t>
            </a:r>
            <a:r>
              <a:rPr lang="en-US" sz="28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US" sz="28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engineered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8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successful</a:t>
            </a:r>
            <a:r>
              <a:rPr lang="en-US" sz="28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surgeries,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8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faster,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</a:t>
            </a:r>
            <a:r>
              <a:rPr lang="en-US" sz="28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patient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recovery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timelines.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8"/>
            <a:ext cx="6748397" cy="11309349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3"/>
            <a:ext cx="6748397" cy="10554682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36"/>
            <a:ext cx="6709063" cy="1055471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16"/>
            <a:ext cx="5955159" cy="1130934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656594-B92B-9464-A425-97CF66D0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974" y="3033315"/>
            <a:ext cx="6877030" cy="5295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1873871" y="827868"/>
            <a:ext cx="8778584" cy="27093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6670" algn="l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en-US" sz="6600" kern="1200" spc="-4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1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Orthopedic</a:t>
            </a:r>
            <a:r>
              <a:rPr lang="en-US" sz="6600" kern="1200" spc="1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3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7930" y="3967497"/>
            <a:ext cx="8764525" cy="58296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indent="-228600" algn="l" rtl="0">
              <a:lnSpc>
                <a:spcPct val="9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3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</a:t>
            </a:r>
            <a:r>
              <a:rPr lang="en-US" sz="3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Traditional</a:t>
            </a:r>
            <a:r>
              <a:rPr lang="en-US" sz="3300" kern="1200" spc="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Implant</a:t>
            </a:r>
            <a:r>
              <a:rPr lang="en-US" sz="3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Distribution</a:t>
            </a:r>
            <a:r>
              <a:rPr lang="en-US" sz="3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</a:t>
            </a:r>
            <a:r>
              <a:rPr lang="en-US" sz="3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3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Failing</a:t>
            </a:r>
            <a:r>
              <a:rPr lang="en-US" sz="3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en-US" sz="3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Doctors</a:t>
            </a:r>
            <a:endParaRPr lang="en-US" sz="3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8"/>
            <a:ext cx="6748397" cy="11309349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3"/>
            <a:ext cx="6748397" cy="10554682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36"/>
            <a:ext cx="6709063" cy="1055471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395037" y="-16"/>
            <a:ext cx="5955159" cy="1130934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Stethoscope">
            <a:extLst>
              <a:ext uri="{FF2B5EF4-FFF2-40B4-BE49-F238E27FC236}">
                <a16:creationId xmlns:a16="http://schemas.microsoft.com/office/drawing/2014/main" id="{48930EAB-E874-866C-8A0A-2A6EE6D36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67974" y="2242456"/>
            <a:ext cx="6877030" cy="6877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337861" y="2337859"/>
            <a:ext cx="11338733" cy="666301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61604" y="4387551"/>
            <a:ext cx="7182697" cy="66594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947622" y="2701531"/>
            <a:ext cx="11308644" cy="590558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232636" y="1981289"/>
            <a:ext cx="7929246" cy="674204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88380" y="4563162"/>
            <a:ext cx="4750365" cy="50658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 spc="13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Implant</a:t>
            </a:r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6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Provider</a:t>
            </a:r>
            <a:r>
              <a:rPr lang="en-US" sz="6600" kern="1200" spc="10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19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vs.</a:t>
            </a:r>
            <a:r>
              <a:rPr lang="en-US" sz="6600" kern="1200" spc="-35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Partner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85050" y="930275"/>
            <a:ext cx="9829800" cy="27565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3600" b="1" spc="200" dirty="0">
                <a:solidFill>
                  <a:srgbClr val="07A7FF"/>
                </a:solidFill>
                <a:latin typeface="Calibri"/>
                <a:cs typeface="Calibri"/>
              </a:rPr>
              <a:t>The Tenexis Partnership Model</a:t>
            </a:r>
          </a:p>
          <a:p>
            <a:pPr marR="5080" algn="l" rtl="0">
              <a:lnSpc>
                <a:spcPct val="90000"/>
              </a:lnSpc>
              <a:spcBef>
                <a:spcPts val="1000"/>
              </a:spcBef>
            </a:pPr>
            <a:r>
              <a:rPr lang="en-US" sz="2450" spc="-55" dirty="0">
                <a:solidFill>
                  <a:srgbClr val="4B4B4B"/>
                </a:solidFill>
                <a:latin typeface="Calibri"/>
                <a:cs typeface="Calibri"/>
              </a:rPr>
              <a:t>Integrated Service Support: We supply best-in-class implants accompanied by fully trained technical staff who assist throughout the procedure.</a:t>
            </a:r>
          </a:p>
          <a:p>
            <a:pPr marR="140970" algn="l" rtl="0">
              <a:lnSpc>
                <a:spcPct val="90000"/>
              </a:lnSpc>
              <a:spcBef>
                <a:spcPts val="1000"/>
              </a:spcBef>
            </a:pPr>
            <a:r>
              <a:rPr lang="en-US" sz="2450" spc="-55" dirty="0">
                <a:solidFill>
                  <a:srgbClr val="4B4B4B"/>
                </a:solidFill>
                <a:latin typeface="Calibri"/>
                <a:cs typeface="Calibri"/>
              </a:rPr>
              <a:t>Surgeon-Centric Care: By streamlining instrumentation and offering hand-to-hand OR support, we make the surgeon's life easier, more predictable, and highly efficient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5ABDA8FE-4085-FD23-CD0C-BE51C2D95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2650" y="3167937"/>
            <a:ext cx="4205364" cy="42053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204450" y="6873875"/>
            <a:ext cx="9433757" cy="36864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0CAADB"/>
                </a:solidFill>
                <a:latin typeface="Calibri"/>
                <a:cs typeface="Calibri"/>
              </a:rPr>
              <a:t>The</a:t>
            </a:r>
            <a:r>
              <a:rPr sz="3600" b="1" spc="750" dirty="0">
                <a:solidFill>
                  <a:srgbClr val="0CAADB"/>
                </a:solidFill>
                <a:latin typeface="Calibri"/>
                <a:cs typeface="Calibri"/>
              </a:rPr>
              <a:t> </a:t>
            </a:r>
            <a:r>
              <a:rPr sz="3600" b="1" spc="200" dirty="0">
                <a:solidFill>
                  <a:srgbClr val="07A7FF"/>
                </a:solidFill>
                <a:latin typeface="Calibri"/>
                <a:cs typeface="Calibri"/>
              </a:rPr>
              <a:t>Traditional</a:t>
            </a:r>
            <a:r>
              <a:rPr sz="3600" b="1" spc="415" dirty="0">
                <a:solidFill>
                  <a:srgbClr val="07A7FF"/>
                </a:solidFill>
                <a:latin typeface="Calibri"/>
                <a:cs typeface="Calibri"/>
              </a:rPr>
              <a:t> </a:t>
            </a:r>
            <a:r>
              <a:rPr sz="3600" b="1" spc="195" dirty="0">
                <a:solidFill>
                  <a:srgbClr val="08A7E8"/>
                </a:solidFill>
                <a:latin typeface="Calibri"/>
                <a:cs typeface="Calibri"/>
              </a:rPr>
              <a:t>Industry</a:t>
            </a:r>
            <a:r>
              <a:rPr sz="3600" b="1" spc="245" dirty="0">
                <a:solidFill>
                  <a:srgbClr val="08A7E8"/>
                </a:solidFill>
                <a:latin typeface="Calibri"/>
                <a:cs typeface="Calibri"/>
              </a:rPr>
              <a:t> </a:t>
            </a:r>
            <a:r>
              <a:rPr sz="3600" b="1" spc="400" dirty="0">
                <a:solidFill>
                  <a:srgbClr val="0FA8E2"/>
                </a:solidFill>
                <a:latin typeface="Calibri"/>
                <a:cs typeface="Calibri"/>
              </a:rPr>
              <a:t>Gaps</a:t>
            </a:r>
            <a:endParaRPr sz="3600" dirty="0">
              <a:latin typeface="Calibri"/>
              <a:cs typeface="Calibri"/>
            </a:endParaRPr>
          </a:p>
          <a:p>
            <a:pPr marL="12700" marR="312420" indent="3175">
              <a:lnSpc>
                <a:spcPct val="120600"/>
              </a:lnSpc>
              <a:spcBef>
                <a:spcPts val="1789"/>
              </a:spcBef>
            </a:pPr>
            <a:r>
              <a:rPr sz="2450" dirty="0">
                <a:solidFill>
                  <a:srgbClr val="495966"/>
                </a:solidFill>
                <a:latin typeface="Calibri"/>
                <a:cs typeface="Calibri"/>
              </a:rPr>
              <a:t>Pure</a:t>
            </a:r>
            <a:r>
              <a:rPr sz="2450" spc="-60" dirty="0">
                <a:solidFill>
                  <a:srgbClr val="495966"/>
                </a:solidFill>
                <a:latin typeface="Calibri"/>
                <a:cs typeface="Calibri"/>
              </a:rPr>
              <a:t> </a:t>
            </a:r>
            <a:r>
              <a:rPr sz="2450" b="1" spc="-80" dirty="0">
                <a:solidFill>
                  <a:srgbClr val="494949"/>
                </a:solidFill>
                <a:latin typeface="Calibri"/>
                <a:cs typeface="Calibri"/>
              </a:rPr>
              <a:t>Implants,</a:t>
            </a:r>
            <a:r>
              <a:rPr sz="2450" b="1" spc="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4D4D4D"/>
                </a:solidFill>
                <a:latin typeface="Calibri"/>
                <a:cs typeface="Calibri"/>
              </a:rPr>
              <a:t>Zero</a:t>
            </a:r>
            <a:r>
              <a:rPr sz="2450" b="1" spc="-229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464646"/>
                </a:solidFill>
                <a:latin typeface="Calibri"/>
                <a:cs typeface="Calibri"/>
              </a:rPr>
              <a:t>Assistance:</a:t>
            </a:r>
            <a:r>
              <a:rPr sz="2450" b="1" spc="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464646"/>
                </a:solidFill>
                <a:latin typeface="Calibri"/>
                <a:cs typeface="Calibri"/>
              </a:rPr>
              <a:t>Standard</a:t>
            </a:r>
            <a:r>
              <a:rPr sz="2450" spc="-1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64646"/>
                </a:solidFill>
                <a:latin typeface="Calibri"/>
                <a:cs typeface="Calibri"/>
              </a:rPr>
              <a:t>distributors </a:t>
            </a:r>
            <a:r>
              <a:rPr sz="2450" spc="-50" dirty="0">
                <a:solidFill>
                  <a:srgbClr val="444444"/>
                </a:solidFill>
                <a:latin typeface="Calibri"/>
                <a:cs typeface="Calibri"/>
              </a:rPr>
              <a:t>focus</a:t>
            </a:r>
            <a:r>
              <a:rPr sz="2450" spc="-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D4D4D"/>
                </a:solidFill>
                <a:latin typeface="Calibri"/>
                <a:cs typeface="Calibri"/>
              </a:rPr>
              <a:t>solely</a:t>
            </a:r>
            <a:r>
              <a:rPr sz="2450" spc="-1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444444"/>
                </a:solidFill>
                <a:latin typeface="Calibri"/>
                <a:cs typeface="Calibri"/>
              </a:rPr>
              <a:t>on</a:t>
            </a:r>
            <a:r>
              <a:rPr sz="2450" spc="-2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44444"/>
                </a:solidFill>
                <a:latin typeface="Calibri"/>
                <a:cs typeface="Calibri"/>
              </a:rPr>
              <a:t>drop-</a:t>
            </a:r>
            <a:r>
              <a:rPr sz="2450" spc="-35" dirty="0">
                <a:solidFill>
                  <a:srgbClr val="444444"/>
                </a:solidFill>
                <a:latin typeface="Calibri"/>
                <a:cs typeface="Calibri"/>
              </a:rPr>
              <a:t>shipping</a:t>
            </a:r>
            <a:r>
              <a:rPr sz="2450" spc="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414141"/>
                </a:solidFill>
                <a:latin typeface="Calibri"/>
                <a:cs typeface="Calibri"/>
              </a:rPr>
              <a:t>hardware.</a:t>
            </a:r>
            <a:r>
              <a:rPr sz="2450" spc="-5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4B4B4B"/>
                </a:solidFill>
                <a:latin typeface="Calibri"/>
                <a:cs typeface="Calibri"/>
              </a:rPr>
              <a:t>They</a:t>
            </a:r>
            <a:r>
              <a:rPr sz="2450" spc="-13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84848"/>
                </a:solidFill>
                <a:latin typeface="Calibri"/>
                <a:cs typeface="Calibri"/>
              </a:rPr>
              <a:t>leave </a:t>
            </a:r>
            <a:r>
              <a:rPr sz="2450" spc="-10" dirty="0">
                <a:solidFill>
                  <a:srgbClr val="4B4B4B"/>
                </a:solidFill>
                <a:latin typeface="Calibri"/>
                <a:cs typeface="Calibri"/>
              </a:rPr>
              <a:t>clinical</a:t>
            </a:r>
            <a:r>
              <a:rPr sz="2450" spc="-8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100" dirty="0">
                <a:solidFill>
                  <a:srgbClr val="3F3F3F"/>
                </a:solidFill>
                <a:latin typeface="Calibri"/>
                <a:cs typeface="Calibri"/>
              </a:rPr>
              <a:t>teams</a:t>
            </a:r>
            <a:r>
              <a:rPr sz="2450" spc="-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2450" spc="-2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464646"/>
                </a:solidFill>
                <a:latin typeface="Calibri"/>
                <a:cs typeface="Calibri"/>
              </a:rPr>
              <a:t>complicated</a:t>
            </a:r>
            <a:r>
              <a:rPr sz="2450" spc="-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383838"/>
                </a:solidFill>
                <a:latin typeface="Calibri"/>
                <a:cs typeface="Calibri"/>
              </a:rPr>
              <a:t>setups</a:t>
            </a:r>
            <a:r>
              <a:rPr sz="2450" spc="-7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450" spc="-2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545454"/>
                </a:solidFill>
                <a:latin typeface="Calibri"/>
                <a:cs typeface="Calibri"/>
              </a:rPr>
              <a:t>minimal </a:t>
            </a:r>
            <a:r>
              <a:rPr sz="2450" spc="-55" dirty="0">
                <a:solidFill>
                  <a:srgbClr val="4B4B4B"/>
                </a:solidFill>
                <a:latin typeface="Calibri"/>
                <a:cs typeface="Calibri"/>
              </a:rPr>
              <a:t>operating</a:t>
            </a:r>
            <a:r>
              <a:rPr sz="2450" spc="-9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D4D4D"/>
                </a:solidFill>
                <a:latin typeface="Calibri"/>
                <a:cs typeface="Calibri"/>
              </a:rPr>
              <a:t>room</a:t>
            </a:r>
            <a:r>
              <a:rPr sz="2450" spc="-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64646"/>
                </a:solidFill>
                <a:latin typeface="Calibri"/>
                <a:cs typeface="Calibri"/>
              </a:rPr>
              <a:t>guidance.</a:t>
            </a:r>
            <a:endParaRPr sz="2450" dirty="0">
              <a:latin typeface="Calibri"/>
              <a:cs typeface="Calibri"/>
            </a:endParaRPr>
          </a:p>
          <a:p>
            <a:pPr marL="13970" marR="5080" indent="6350" algn="just">
              <a:lnSpc>
                <a:spcPct val="119900"/>
              </a:lnSpc>
              <a:spcBef>
                <a:spcPts val="1545"/>
              </a:spcBef>
            </a:pPr>
            <a:r>
              <a:rPr sz="2450" b="1" spc="-30" dirty="0">
                <a:solidFill>
                  <a:srgbClr val="484848"/>
                </a:solidFill>
                <a:latin typeface="Calibri"/>
                <a:cs typeface="Calibri"/>
              </a:rPr>
              <a:t>Inefficient</a:t>
            </a:r>
            <a:r>
              <a:rPr sz="2450" b="1" spc="-11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b="1" spc="-35" dirty="0">
                <a:solidFill>
                  <a:srgbClr val="484848"/>
                </a:solidFill>
                <a:latin typeface="Calibri"/>
                <a:cs typeface="Calibri"/>
              </a:rPr>
              <a:t>Workflows:</a:t>
            </a:r>
            <a:r>
              <a:rPr sz="2450" b="1" spc="-10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B4B4B"/>
                </a:solidFill>
                <a:latin typeface="Calibri"/>
                <a:cs typeface="Calibri"/>
              </a:rPr>
              <a:t>Lack</a:t>
            </a:r>
            <a:r>
              <a:rPr sz="2450" spc="-8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125" dirty="0">
                <a:solidFill>
                  <a:srgbClr val="464646"/>
                </a:solidFill>
                <a:latin typeface="Calibri"/>
                <a:cs typeface="Calibri"/>
              </a:rPr>
              <a:t>of</a:t>
            </a:r>
            <a:r>
              <a:rPr sz="2450" spc="-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444444"/>
                </a:solidFill>
                <a:latin typeface="Calibri"/>
                <a:cs typeface="Calibri"/>
              </a:rPr>
              <a:t>professional</a:t>
            </a:r>
            <a:r>
              <a:rPr sz="2450" spc="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414141"/>
                </a:solidFill>
                <a:latin typeface="Calibri"/>
                <a:cs typeface="Calibri"/>
              </a:rPr>
              <a:t>staff</a:t>
            </a:r>
            <a:r>
              <a:rPr sz="2450" spc="-6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64646"/>
                </a:solidFill>
                <a:latin typeface="Calibri"/>
                <a:cs typeface="Calibri"/>
              </a:rPr>
              <a:t>support </a:t>
            </a:r>
            <a:r>
              <a:rPr sz="2450" spc="-10" dirty="0">
                <a:solidFill>
                  <a:srgbClr val="42506B"/>
                </a:solidFill>
                <a:latin typeface="Calibri"/>
                <a:cs typeface="Calibri"/>
              </a:rPr>
              <a:t>in</a:t>
            </a:r>
            <a:r>
              <a:rPr sz="2450" spc="-140" dirty="0">
                <a:solidFill>
                  <a:srgbClr val="42506B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sz="245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spc="85" dirty="0">
                <a:solidFill>
                  <a:srgbClr val="4B4B4B"/>
                </a:solidFill>
                <a:latin typeface="Calibri"/>
                <a:cs typeface="Calibri"/>
              </a:rPr>
              <a:t>OR</a:t>
            </a:r>
            <a:r>
              <a:rPr sz="2450" spc="-14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24242"/>
                </a:solidFill>
                <a:latin typeface="Calibri"/>
                <a:cs typeface="Calibri"/>
              </a:rPr>
              <a:t>leads</a:t>
            </a:r>
            <a:r>
              <a:rPr sz="245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484848"/>
                </a:solidFill>
                <a:latin typeface="Calibri"/>
                <a:cs typeface="Calibri"/>
              </a:rPr>
              <a:t>to</a:t>
            </a:r>
            <a:r>
              <a:rPr sz="2450" spc="-6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84848"/>
                </a:solidFill>
                <a:latin typeface="Calibri"/>
                <a:cs typeface="Calibri"/>
              </a:rPr>
              <a:t>surgical</a:t>
            </a:r>
            <a:r>
              <a:rPr sz="2450" spc="-9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464646"/>
                </a:solidFill>
                <a:latin typeface="Calibri"/>
                <a:cs typeface="Calibri"/>
              </a:rPr>
              <a:t>friction,</a:t>
            </a:r>
            <a:r>
              <a:rPr sz="2450" spc="-9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24242"/>
                </a:solidFill>
                <a:latin typeface="Calibri"/>
                <a:cs typeface="Calibri"/>
              </a:rPr>
              <a:t>elevated</a:t>
            </a:r>
            <a:r>
              <a:rPr sz="2450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464646"/>
                </a:solidFill>
                <a:latin typeface="Calibri"/>
                <a:cs typeface="Calibri"/>
              </a:rPr>
              <a:t>stress</a:t>
            </a:r>
            <a:r>
              <a:rPr sz="2450" spc="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84848"/>
                </a:solidFill>
                <a:latin typeface="Calibri"/>
                <a:cs typeface="Calibri"/>
              </a:rPr>
              <a:t>levels, </a:t>
            </a:r>
            <a:r>
              <a:rPr sz="2450" spc="-85" dirty="0">
                <a:solidFill>
                  <a:srgbClr val="4B4B4B"/>
                </a:solidFill>
                <a:latin typeface="Calibri"/>
                <a:cs typeface="Calibri"/>
              </a:rPr>
              <a:t>and</a:t>
            </a:r>
            <a:r>
              <a:rPr sz="2450" spc="-21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444444"/>
                </a:solidFill>
                <a:latin typeface="Calibri"/>
                <a:cs typeface="Calibri"/>
              </a:rPr>
              <a:t>costly</a:t>
            </a:r>
            <a:r>
              <a:rPr sz="2450" spc="-1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444444"/>
                </a:solidFill>
                <a:latin typeface="Calibri"/>
                <a:cs typeface="Calibri"/>
              </a:rPr>
              <a:t>operational</a:t>
            </a:r>
            <a:r>
              <a:rPr sz="2450" spc="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464646"/>
                </a:solidFill>
                <a:latin typeface="Calibri"/>
                <a:cs typeface="Calibri"/>
              </a:rPr>
              <a:t>delays</a:t>
            </a:r>
            <a:r>
              <a:rPr sz="2450" spc="-10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484848"/>
                </a:solidFill>
                <a:latin typeface="Calibri"/>
                <a:cs typeface="Calibri"/>
              </a:rPr>
              <a:t>for</a:t>
            </a:r>
            <a:r>
              <a:rPr sz="2450" spc="-21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Calibri"/>
                <a:cs typeface="Calibri"/>
              </a:rPr>
              <a:t>hospitals.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1040" y="4283075"/>
            <a:ext cx="929610" cy="4845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8926" y="4209295"/>
            <a:ext cx="534015" cy="6596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8743" y="4209295"/>
            <a:ext cx="738197" cy="65966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5400" dirty="0">
                <a:solidFill>
                  <a:srgbClr val="161616"/>
                </a:solidFill>
              </a:rPr>
              <a:t>Our</a:t>
            </a:r>
            <a:r>
              <a:rPr sz="5400" spc="80" dirty="0">
                <a:solidFill>
                  <a:srgbClr val="161616"/>
                </a:solidFill>
              </a:rPr>
              <a:t> </a:t>
            </a:r>
            <a:r>
              <a:rPr sz="5400" spc="204" dirty="0">
                <a:solidFill>
                  <a:srgbClr val="151515"/>
                </a:solidFill>
              </a:rPr>
              <a:t>Strategic</a:t>
            </a:r>
            <a:r>
              <a:rPr sz="5400" spc="-20" dirty="0">
                <a:solidFill>
                  <a:srgbClr val="151515"/>
                </a:solidFill>
              </a:rPr>
              <a:t> </a:t>
            </a:r>
            <a:r>
              <a:rPr sz="5400" spc="245" dirty="0">
                <a:solidFill>
                  <a:srgbClr val="0F0F0F"/>
                </a:solidFill>
              </a:rPr>
              <a:t>Focus</a:t>
            </a:r>
            <a:r>
              <a:rPr sz="5400" spc="-20" dirty="0">
                <a:solidFill>
                  <a:srgbClr val="0F0F0F"/>
                </a:solidFill>
              </a:rPr>
              <a:t> </a:t>
            </a:r>
            <a:r>
              <a:rPr sz="5400" spc="204" dirty="0">
                <a:solidFill>
                  <a:srgbClr val="161616"/>
                </a:solidFill>
              </a:rPr>
              <a:t>Areas</a:t>
            </a:r>
            <a:endParaRPr sz="5400"/>
          </a:p>
        </p:txBody>
      </p:sp>
      <p:sp>
        <p:nvSpPr>
          <p:cNvPr id="6" name="object 6"/>
          <p:cNvSpPr txBox="1"/>
          <p:nvPr/>
        </p:nvSpPr>
        <p:spPr>
          <a:xfrm>
            <a:off x="1731040" y="5173660"/>
            <a:ext cx="4121150" cy="3108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0"/>
              </a:spcBef>
            </a:pPr>
            <a:r>
              <a:rPr sz="4000" spc="50" dirty="0">
                <a:solidFill>
                  <a:srgbClr val="0F0F0F"/>
                </a:solidFill>
                <a:latin typeface="Calibri"/>
                <a:cs typeface="Calibri"/>
              </a:rPr>
              <a:t>Arthroplosty</a:t>
            </a:r>
            <a:endParaRPr sz="4000">
              <a:latin typeface="Calibri"/>
              <a:cs typeface="Calibri"/>
            </a:endParaRPr>
          </a:p>
          <a:p>
            <a:pPr marL="12700" marR="5080" indent="4445">
              <a:lnSpc>
                <a:spcPct val="120900"/>
              </a:lnSpc>
              <a:spcBef>
                <a:spcPts val="1705"/>
              </a:spcBef>
            </a:pPr>
            <a:r>
              <a:rPr sz="2450" spc="-85" dirty="0">
                <a:solidFill>
                  <a:srgbClr val="3F3F3F"/>
                </a:solidFill>
                <a:latin typeface="Calibri"/>
                <a:cs typeface="Calibri"/>
              </a:rPr>
              <a:t>Premium-</a:t>
            </a:r>
            <a:r>
              <a:rPr sz="2450" spc="-35" dirty="0">
                <a:solidFill>
                  <a:srgbClr val="3F3F3F"/>
                </a:solidFill>
                <a:latin typeface="Calibri"/>
                <a:cs typeface="Calibri"/>
              </a:rPr>
              <a:t>grade</a:t>
            </a:r>
            <a:r>
              <a:rPr sz="24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4D4D4D"/>
                </a:solidFill>
                <a:latin typeface="Calibri"/>
                <a:cs typeface="Calibri"/>
              </a:rPr>
              <a:t>joint</a:t>
            </a:r>
            <a:r>
              <a:rPr sz="2450" spc="-1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24242"/>
                </a:solidFill>
                <a:latin typeface="Calibri"/>
                <a:cs typeface="Calibri"/>
              </a:rPr>
              <a:t>replacement </a:t>
            </a:r>
            <a:r>
              <a:rPr sz="2450" spc="-40" dirty="0">
                <a:solidFill>
                  <a:srgbClr val="424242"/>
                </a:solidFill>
                <a:latin typeface="Calibri"/>
                <a:cs typeface="Calibri"/>
              </a:rPr>
              <a:t>systems</a:t>
            </a:r>
            <a:r>
              <a:rPr sz="2450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3F3F3F"/>
                </a:solidFill>
                <a:latin typeface="Calibri"/>
                <a:cs typeface="Calibri"/>
              </a:rPr>
              <a:t>engineered</a:t>
            </a:r>
            <a:r>
              <a:rPr sz="2450"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4D4D4D"/>
                </a:solidFill>
                <a:latin typeface="Calibri"/>
                <a:cs typeface="Calibri"/>
              </a:rPr>
              <a:t>for</a:t>
            </a:r>
            <a:r>
              <a:rPr sz="2450" spc="-16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Calibri"/>
                <a:cs typeface="Calibri"/>
              </a:rPr>
              <a:t>durable </a:t>
            </a:r>
            <a:r>
              <a:rPr sz="2450" spc="-30" dirty="0">
                <a:solidFill>
                  <a:srgbClr val="4F4F4F"/>
                </a:solidFill>
                <a:latin typeface="Calibri"/>
                <a:cs typeface="Calibri"/>
              </a:rPr>
              <a:t>biological</a:t>
            </a:r>
            <a:r>
              <a:rPr sz="2450" spc="-6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363636"/>
                </a:solidFill>
                <a:latin typeface="Calibri"/>
                <a:cs typeface="Calibri"/>
              </a:rPr>
              <a:t>fixation,</a:t>
            </a:r>
            <a:r>
              <a:rPr sz="2450" spc="-9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F4F4F"/>
                </a:solidFill>
                <a:latin typeface="Calibri"/>
                <a:cs typeface="Calibri"/>
              </a:rPr>
              <a:t>structural </a:t>
            </a:r>
            <a:r>
              <a:rPr sz="2450" spc="-55" dirty="0">
                <a:solidFill>
                  <a:srgbClr val="4F4F4F"/>
                </a:solidFill>
                <a:latin typeface="Calibri"/>
                <a:cs typeface="Calibri"/>
              </a:rPr>
              <a:t>longevity,</a:t>
            </a:r>
            <a:r>
              <a:rPr sz="2450" spc="-6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sz="2450" spc="-9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4D4D4D"/>
                </a:solidFill>
                <a:latin typeface="Calibri"/>
                <a:cs typeface="Calibri"/>
              </a:rPr>
              <a:t>natural</a:t>
            </a:r>
            <a:r>
              <a:rPr sz="2450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64646"/>
                </a:solidFill>
                <a:latin typeface="Calibri"/>
                <a:cs typeface="Calibri"/>
              </a:rPr>
              <a:t>post-</a:t>
            </a:r>
            <a:r>
              <a:rPr sz="2450" spc="-25" dirty="0">
                <a:solidFill>
                  <a:srgbClr val="464646"/>
                </a:solidFill>
                <a:latin typeface="Calibri"/>
                <a:cs typeface="Calibri"/>
              </a:rPr>
              <a:t>op </a:t>
            </a:r>
            <a:r>
              <a:rPr sz="2450" spc="-10" dirty="0">
                <a:solidFill>
                  <a:srgbClr val="494949"/>
                </a:solidFill>
                <a:latin typeface="Calibri"/>
                <a:cs typeface="Calibri"/>
              </a:rPr>
              <a:t>movement.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5821" y="5173660"/>
            <a:ext cx="4227195" cy="2652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0"/>
              </a:spcBef>
            </a:pPr>
            <a:r>
              <a:rPr sz="4000" spc="75" dirty="0">
                <a:solidFill>
                  <a:srgbClr val="0F0F0F"/>
                </a:solidFill>
                <a:latin typeface="Calibri"/>
                <a:cs typeface="Calibri"/>
              </a:rPr>
              <a:t>Arthroscopy</a:t>
            </a:r>
            <a:endParaRPr sz="4000">
              <a:latin typeface="Calibri"/>
              <a:cs typeface="Calibri"/>
            </a:endParaRPr>
          </a:p>
          <a:p>
            <a:pPr marL="12700" marR="5080" indent="635">
              <a:lnSpc>
                <a:spcPct val="120600"/>
              </a:lnSpc>
              <a:spcBef>
                <a:spcPts val="1710"/>
              </a:spcBef>
            </a:pPr>
            <a:r>
              <a:rPr sz="2450" spc="-75" dirty="0">
                <a:solidFill>
                  <a:srgbClr val="494949"/>
                </a:solidFill>
                <a:latin typeface="Calibri"/>
                <a:cs typeface="Calibri"/>
              </a:rPr>
              <a:t>Advanced</a:t>
            </a:r>
            <a:r>
              <a:rPr sz="2450" spc="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4D4D4D"/>
                </a:solidFill>
                <a:latin typeface="Calibri"/>
                <a:cs typeface="Calibri"/>
              </a:rPr>
              <a:t>visualization</a:t>
            </a:r>
            <a:r>
              <a:rPr sz="2450" spc="-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F4F4F"/>
                </a:solidFill>
                <a:latin typeface="Calibri"/>
                <a:cs typeface="Calibri"/>
              </a:rPr>
              <a:t>systems, </a:t>
            </a:r>
            <a:r>
              <a:rPr sz="2450" spc="-30" dirty="0">
                <a:solidFill>
                  <a:srgbClr val="4F4F4F"/>
                </a:solidFill>
                <a:latin typeface="Calibri"/>
                <a:cs typeface="Calibri"/>
              </a:rPr>
              <a:t>sports</a:t>
            </a:r>
            <a:r>
              <a:rPr sz="2450" spc="-7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3F3F3F"/>
                </a:solidFill>
                <a:latin typeface="Calibri"/>
                <a:cs typeface="Calibri"/>
              </a:rPr>
              <a:t>medicine</a:t>
            </a:r>
            <a:r>
              <a:rPr sz="2450" spc="-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4D4D4D"/>
                </a:solidFill>
                <a:latin typeface="Calibri"/>
                <a:cs typeface="Calibri"/>
              </a:rPr>
              <a:t>suturing</a:t>
            </a:r>
            <a:r>
              <a:rPr sz="2450" spc="-7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424242"/>
                </a:solidFill>
                <a:latin typeface="Calibri"/>
                <a:cs typeface="Calibri"/>
              </a:rPr>
              <a:t>implants, </a:t>
            </a:r>
            <a:r>
              <a:rPr sz="2450" spc="-110" dirty="0">
                <a:solidFill>
                  <a:srgbClr val="4B4B4B"/>
                </a:solidFill>
                <a:latin typeface="Calibri"/>
                <a:cs typeface="Calibri"/>
              </a:rPr>
              <a:t>and</a:t>
            </a:r>
            <a:r>
              <a:rPr sz="2450" spc="-7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F4F4F"/>
                </a:solidFill>
                <a:latin typeface="Calibri"/>
                <a:cs typeface="Calibri"/>
              </a:rPr>
              <a:t>tools</a:t>
            </a:r>
            <a:r>
              <a:rPr sz="2450" spc="-13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B4B4B"/>
                </a:solidFill>
                <a:latin typeface="Calibri"/>
                <a:cs typeface="Calibri"/>
              </a:rPr>
              <a:t>optimized</a:t>
            </a:r>
            <a:r>
              <a:rPr sz="2450" spc="1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450" spc="-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B4B4B"/>
                </a:solidFill>
                <a:latin typeface="Calibri"/>
                <a:cs typeface="Calibri"/>
              </a:rPr>
              <a:t>minimally </a:t>
            </a:r>
            <a:r>
              <a:rPr sz="2450" spc="-35" dirty="0">
                <a:solidFill>
                  <a:srgbClr val="4B4B4B"/>
                </a:solidFill>
                <a:latin typeface="Calibri"/>
                <a:cs typeface="Calibri"/>
              </a:rPr>
              <a:t>invasive</a:t>
            </a:r>
            <a:r>
              <a:rPr sz="2450" spc="-9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Calibri"/>
                <a:cs typeface="Calibri"/>
              </a:rPr>
              <a:t>procedures.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69413" y="5173660"/>
            <a:ext cx="4406900" cy="2652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90"/>
              </a:spcBef>
            </a:pPr>
            <a:r>
              <a:rPr sz="4000" spc="70" dirty="0">
                <a:solidFill>
                  <a:srgbClr val="111111"/>
                </a:solidFill>
                <a:latin typeface="Calibri"/>
                <a:cs typeface="Calibri"/>
              </a:rPr>
              <a:t>Staff</a:t>
            </a:r>
            <a:r>
              <a:rPr sz="4000" spc="40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4000" spc="95" dirty="0">
                <a:solidFill>
                  <a:srgbClr val="131313"/>
                </a:solidFill>
                <a:latin typeface="Calibri"/>
                <a:cs typeface="Calibri"/>
              </a:rPr>
              <a:t>Support</a:t>
            </a:r>
            <a:endParaRPr sz="4000">
              <a:latin typeface="Calibri"/>
              <a:cs typeface="Calibri"/>
            </a:endParaRPr>
          </a:p>
          <a:p>
            <a:pPr marL="12700" marR="5080" indent="5080">
              <a:lnSpc>
                <a:spcPct val="120600"/>
              </a:lnSpc>
              <a:spcBef>
                <a:spcPts val="1710"/>
              </a:spcBef>
            </a:pPr>
            <a:r>
              <a:rPr sz="2450" spc="-35" dirty="0">
                <a:solidFill>
                  <a:srgbClr val="494949"/>
                </a:solidFill>
                <a:latin typeface="Calibri"/>
                <a:cs typeface="Calibri"/>
              </a:rPr>
              <a:t>Professional</a:t>
            </a:r>
            <a:r>
              <a:rPr sz="2450" spc="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44444"/>
                </a:solidFill>
                <a:latin typeface="Calibri"/>
                <a:cs typeface="Calibri"/>
              </a:rPr>
              <a:t>on-</a:t>
            </a:r>
            <a:r>
              <a:rPr sz="2450" spc="-25" dirty="0">
                <a:solidFill>
                  <a:srgbClr val="444444"/>
                </a:solidFill>
                <a:latin typeface="Calibri"/>
                <a:cs typeface="Calibri"/>
              </a:rPr>
              <a:t>site</a:t>
            </a:r>
            <a:r>
              <a:rPr sz="2450" spc="-1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565656"/>
                </a:solidFill>
                <a:latin typeface="Calibri"/>
                <a:cs typeface="Calibri"/>
              </a:rPr>
              <a:t>operating</a:t>
            </a:r>
            <a:r>
              <a:rPr sz="2450" spc="-8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4D4D4D"/>
                </a:solidFill>
                <a:latin typeface="Calibri"/>
                <a:cs typeface="Calibri"/>
              </a:rPr>
              <a:t>room </a:t>
            </a:r>
            <a:r>
              <a:rPr sz="2450" spc="-45" dirty="0">
                <a:solidFill>
                  <a:srgbClr val="484848"/>
                </a:solidFill>
                <a:latin typeface="Calibri"/>
                <a:cs typeface="Calibri"/>
              </a:rPr>
              <a:t>coordinators</a:t>
            </a:r>
            <a:r>
              <a:rPr sz="2450" spc="-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F4F4F"/>
                </a:solidFill>
                <a:latin typeface="Calibri"/>
                <a:cs typeface="Calibri"/>
              </a:rPr>
              <a:t>providing</a:t>
            </a:r>
            <a:r>
              <a:rPr sz="2450" spc="-13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94949"/>
                </a:solidFill>
                <a:latin typeface="Calibri"/>
                <a:cs typeface="Calibri"/>
              </a:rPr>
              <a:t>seamless </a:t>
            </a:r>
            <a:r>
              <a:rPr sz="2450" spc="-70" dirty="0">
                <a:solidFill>
                  <a:srgbClr val="4D4D4D"/>
                </a:solidFill>
                <a:latin typeface="Calibri"/>
                <a:cs typeface="Calibri"/>
              </a:rPr>
              <a:t>medical</a:t>
            </a:r>
            <a:r>
              <a:rPr sz="2450" spc="-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595959"/>
                </a:solidFill>
                <a:latin typeface="Calibri"/>
                <a:cs typeface="Calibri"/>
              </a:rPr>
              <a:t>team</a:t>
            </a:r>
            <a:r>
              <a:rPr sz="245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D4D4D"/>
                </a:solidFill>
                <a:latin typeface="Calibri"/>
                <a:cs typeface="Calibri"/>
              </a:rPr>
              <a:t>alignment,</a:t>
            </a:r>
            <a:r>
              <a:rPr sz="2450" spc="-4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84848"/>
                </a:solidFill>
                <a:latin typeface="Calibri"/>
                <a:cs typeface="Calibri"/>
              </a:rPr>
              <a:t>ensuring </a:t>
            </a:r>
            <a:r>
              <a:rPr sz="2450" spc="-60" dirty="0">
                <a:solidFill>
                  <a:srgbClr val="3B3B3B"/>
                </a:solidFill>
                <a:latin typeface="Calibri"/>
                <a:cs typeface="Calibri"/>
              </a:rPr>
              <a:t>worry-</a:t>
            </a:r>
            <a:r>
              <a:rPr sz="2450" spc="-20" dirty="0">
                <a:solidFill>
                  <a:srgbClr val="3B3B3B"/>
                </a:solidFill>
                <a:latin typeface="Calibri"/>
                <a:cs typeface="Calibri"/>
              </a:rPr>
              <a:t>free</a:t>
            </a:r>
            <a:r>
              <a:rPr sz="2450" spc="-1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24242"/>
                </a:solidFill>
                <a:latin typeface="Calibri"/>
                <a:cs typeface="Calibri"/>
              </a:rPr>
              <a:t>setups.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402" y="4225002"/>
            <a:ext cx="777463" cy="6282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9794" y="4232855"/>
            <a:ext cx="454432" cy="6204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pc="130" dirty="0">
                <a:solidFill>
                  <a:srgbClr val="131313"/>
                </a:solidFill>
              </a:rPr>
              <a:t>Knowledge</a:t>
            </a:r>
            <a:r>
              <a:rPr spc="240" dirty="0">
                <a:solidFill>
                  <a:srgbClr val="131313"/>
                </a:solidFill>
              </a:rPr>
              <a:t> </a:t>
            </a:r>
            <a:r>
              <a:rPr spc="114" dirty="0">
                <a:solidFill>
                  <a:srgbClr val="1A1A1A"/>
                </a:solidFill>
              </a:rPr>
              <a:t>Sh</a:t>
            </a:r>
            <a:r>
              <a:rPr lang="en-US" spc="114" dirty="0">
                <a:solidFill>
                  <a:srgbClr val="1A1A1A"/>
                </a:solidFill>
              </a:rPr>
              <a:t>a</a:t>
            </a:r>
            <a:r>
              <a:rPr spc="114" dirty="0">
                <a:solidFill>
                  <a:srgbClr val="1A1A1A"/>
                </a:solidFill>
              </a:rPr>
              <a:t>ring</a:t>
            </a:r>
            <a:r>
              <a:rPr spc="95" dirty="0">
                <a:solidFill>
                  <a:srgbClr val="1A1A1A"/>
                </a:solidFill>
              </a:rPr>
              <a:t> </a:t>
            </a:r>
            <a:r>
              <a:rPr spc="225" dirty="0">
                <a:solidFill>
                  <a:srgbClr val="181818"/>
                </a:solidFill>
              </a:rPr>
              <a:t>&amp;</a:t>
            </a:r>
            <a:r>
              <a:rPr spc="-475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61616"/>
                </a:solidFill>
              </a:rPr>
              <a:t>Tr</a:t>
            </a:r>
            <a:r>
              <a:rPr lang="en-US" spc="-10" dirty="0">
                <a:solidFill>
                  <a:srgbClr val="161616"/>
                </a:solidFill>
              </a:rPr>
              <a:t>a</a:t>
            </a:r>
            <a:r>
              <a:rPr spc="-10" dirty="0">
                <a:solidFill>
                  <a:srgbClr val="161616"/>
                </a:solidFill>
              </a:rPr>
              <a:t>ining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19519" y="5173660"/>
            <a:ext cx="4234180" cy="3108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spc="55" dirty="0">
                <a:solidFill>
                  <a:srgbClr val="111111"/>
                </a:solidFill>
                <a:latin typeface="Calibri"/>
                <a:cs typeface="Calibri"/>
              </a:rPr>
              <a:t>Internal</a:t>
            </a:r>
            <a:r>
              <a:rPr sz="4000" spc="1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4000" spc="150" dirty="0">
                <a:solidFill>
                  <a:srgbClr val="0C0C0C"/>
                </a:solidFill>
                <a:latin typeface="Calibri"/>
                <a:cs typeface="Calibri"/>
              </a:rPr>
              <a:t>Teams</a:t>
            </a:r>
            <a:endParaRPr sz="4000">
              <a:latin typeface="Calibri"/>
              <a:cs typeface="Calibri"/>
            </a:endParaRPr>
          </a:p>
          <a:p>
            <a:pPr marL="24130" marR="5080" indent="4445">
              <a:lnSpc>
                <a:spcPct val="120900"/>
              </a:lnSpc>
              <a:spcBef>
                <a:spcPts val="1705"/>
              </a:spcBef>
            </a:pPr>
            <a:r>
              <a:rPr sz="2450" spc="-25" dirty="0">
                <a:solidFill>
                  <a:srgbClr val="494949"/>
                </a:solidFill>
                <a:latin typeface="Calibri"/>
                <a:cs typeface="Calibri"/>
              </a:rPr>
              <a:t>Rigorous,</a:t>
            </a:r>
            <a:r>
              <a:rPr sz="2450" spc="-1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3D3D3D"/>
                </a:solidFill>
                <a:latin typeface="Calibri"/>
                <a:cs typeface="Calibri"/>
              </a:rPr>
              <a:t>continuous</a:t>
            </a:r>
            <a:r>
              <a:rPr sz="24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3F3F3F"/>
                </a:solidFill>
                <a:latin typeface="Calibri"/>
                <a:cs typeface="Calibri"/>
              </a:rPr>
              <a:t>training</a:t>
            </a:r>
            <a:r>
              <a:rPr sz="2450" spc="-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7C829A"/>
                </a:solidFill>
                <a:latin typeface="Calibri"/>
                <a:cs typeface="Calibri"/>
              </a:rPr>
              <a:t>on </a:t>
            </a:r>
            <a:r>
              <a:rPr sz="2450" spc="-65" dirty="0">
                <a:solidFill>
                  <a:srgbClr val="4F4F4F"/>
                </a:solidFill>
                <a:latin typeface="Calibri"/>
                <a:cs typeface="Calibri"/>
              </a:rPr>
              <a:t>product</a:t>
            </a:r>
            <a:r>
              <a:rPr sz="2450" spc="-7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3D3D3D"/>
                </a:solidFill>
                <a:latin typeface="Calibri"/>
                <a:cs typeface="Calibri"/>
              </a:rPr>
              <a:t>design,</a:t>
            </a:r>
            <a:r>
              <a:rPr sz="245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F4F4F"/>
                </a:solidFill>
                <a:latin typeface="Calibri"/>
                <a:cs typeface="Calibri"/>
              </a:rPr>
              <a:t>technological </a:t>
            </a:r>
            <a:r>
              <a:rPr sz="2450" spc="-45" dirty="0">
                <a:solidFill>
                  <a:srgbClr val="4B4B4B"/>
                </a:solidFill>
                <a:latin typeface="Calibri"/>
                <a:cs typeface="Calibri"/>
              </a:rPr>
              <a:t>innovations,</a:t>
            </a:r>
            <a:r>
              <a:rPr sz="2450" spc="-1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4B4B4B"/>
                </a:solidFill>
                <a:latin typeface="Calibri"/>
                <a:cs typeface="Calibri"/>
              </a:rPr>
              <a:t>and</a:t>
            </a:r>
            <a:r>
              <a:rPr sz="2450" spc="-8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494949"/>
                </a:solidFill>
                <a:latin typeface="Calibri"/>
                <a:cs typeface="Calibri"/>
              </a:rPr>
              <a:t>deep</a:t>
            </a:r>
            <a:r>
              <a:rPr sz="2450" spc="-1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F4F4F"/>
                </a:solidFill>
                <a:latin typeface="Calibri"/>
                <a:cs typeface="Calibri"/>
              </a:rPr>
              <a:t>clinical </a:t>
            </a:r>
            <a:r>
              <a:rPr sz="2450" spc="-35" dirty="0">
                <a:solidFill>
                  <a:srgbClr val="444444"/>
                </a:solidFill>
                <a:latin typeface="Calibri"/>
                <a:cs typeface="Calibri"/>
              </a:rPr>
              <a:t>protocols</a:t>
            </a:r>
            <a:r>
              <a:rPr sz="2450" spc="-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4F4F4F"/>
                </a:solidFill>
                <a:latin typeface="Calibri"/>
                <a:cs typeface="Calibri"/>
              </a:rPr>
              <a:t>to</a:t>
            </a:r>
            <a:r>
              <a:rPr sz="2450" spc="-19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94949"/>
                </a:solidFill>
                <a:latin typeface="Calibri"/>
                <a:cs typeface="Calibri"/>
              </a:rPr>
              <a:t>maintain</a:t>
            </a:r>
            <a:r>
              <a:rPr sz="2450" spc="-1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4B4B4B"/>
                </a:solidFill>
                <a:latin typeface="Calibri"/>
                <a:cs typeface="Calibri"/>
              </a:rPr>
              <a:t>unparalleled </a:t>
            </a:r>
            <a:r>
              <a:rPr sz="2450" spc="-55" dirty="0">
                <a:solidFill>
                  <a:srgbClr val="464646"/>
                </a:solidFill>
                <a:latin typeface="Calibri"/>
                <a:cs typeface="Calibri"/>
              </a:rPr>
              <a:t>technical</a:t>
            </a:r>
            <a:r>
              <a:rPr sz="2450" spc="-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3F3F3F"/>
                </a:solidFill>
                <a:latin typeface="Calibri"/>
                <a:cs typeface="Calibri"/>
              </a:rPr>
              <a:t>expertise.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4416" y="5239103"/>
            <a:ext cx="3894454" cy="30429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25"/>
              </a:spcBef>
            </a:pPr>
            <a:r>
              <a:rPr sz="3450" spc="170" dirty="0">
                <a:solidFill>
                  <a:srgbClr val="0F0F0F"/>
                </a:solidFill>
                <a:latin typeface="Arial MT"/>
                <a:cs typeface="Arial MT"/>
              </a:rPr>
              <a:t>Surgeons</a:t>
            </a:r>
            <a:endParaRPr sz="3450" dirty="0">
              <a:latin typeface="Arial MT"/>
              <a:cs typeface="Arial MT"/>
            </a:endParaRPr>
          </a:p>
          <a:p>
            <a:pPr marL="12700" marR="5080" indent="635">
              <a:lnSpc>
                <a:spcPct val="120900"/>
              </a:lnSpc>
              <a:spcBef>
                <a:spcPts val="1815"/>
              </a:spcBef>
            </a:pPr>
            <a:r>
              <a:rPr sz="2450" spc="-35" dirty="0">
                <a:solidFill>
                  <a:srgbClr val="4D4D4D"/>
                </a:solidFill>
                <a:latin typeface="Calibri"/>
                <a:cs typeface="Calibri"/>
              </a:rPr>
              <a:t>Conducting</a:t>
            </a:r>
            <a:r>
              <a:rPr sz="2450" spc="-6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4F6E8E"/>
                </a:solidFill>
                <a:latin typeface="Calibri"/>
                <a:cs typeface="Calibri"/>
              </a:rPr>
              <a:t>medical</a:t>
            </a:r>
            <a:r>
              <a:rPr sz="2450" dirty="0">
                <a:solidFill>
                  <a:srgbClr val="4F6E8E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484848"/>
                </a:solidFill>
                <a:latin typeface="Calibri"/>
                <a:cs typeface="Calibri"/>
              </a:rPr>
              <a:t>workshops, </a:t>
            </a:r>
            <a:r>
              <a:rPr sz="2450" spc="-50" dirty="0">
                <a:solidFill>
                  <a:srgbClr val="525252"/>
                </a:solidFill>
                <a:latin typeface="Calibri"/>
                <a:cs typeface="Calibri"/>
              </a:rPr>
              <a:t>sharing</a:t>
            </a:r>
            <a:r>
              <a:rPr sz="245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484848"/>
                </a:solidFill>
                <a:latin typeface="Calibri"/>
                <a:cs typeface="Calibri"/>
              </a:rPr>
              <a:t>technical</a:t>
            </a:r>
            <a:r>
              <a:rPr sz="2450" spc="5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4F4F4F"/>
                </a:solidFill>
                <a:latin typeface="Calibri"/>
                <a:cs typeface="Calibri"/>
              </a:rPr>
              <a:t>mastery,</a:t>
            </a:r>
            <a:r>
              <a:rPr sz="2450" spc="-6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6D7987"/>
                </a:solidFill>
                <a:latin typeface="Calibri"/>
                <a:cs typeface="Calibri"/>
              </a:rPr>
              <a:t>and </a:t>
            </a:r>
            <a:r>
              <a:rPr sz="2450" spc="-55" dirty="0">
                <a:solidFill>
                  <a:srgbClr val="525252"/>
                </a:solidFill>
                <a:latin typeface="Calibri"/>
                <a:cs typeface="Calibri"/>
              </a:rPr>
              <a:t>exploring</a:t>
            </a:r>
            <a:r>
              <a:rPr sz="2450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94949"/>
                </a:solidFill>
                <a:latin typeface="Calibri"/>
                <a:cs typeface="Calibri"/>
              </a:rPr>
              <a:t>next-</a:t>
            </a:r>
            <a:r>
              <a:rPr sz="2450" spc="-10" dirty="0">
                <a:solidFill>
                  <a:srgbClr val="494949"/>
                </a:solidFill>
                <a:latin typeface="Calibri"/>
                <a:cs typeface="Calibri"/>
              </a:rPr>
              <a:t>generation </a:t>
            </a:r>
            <a:r>
              <a:rPr sz="2450" spc="-30" dirty="0">
                <a:solidFill>
                  <a:srgbClr val="444444"/>
                </a:solidFill>
                <a:latin typeface="Calibri"/>
                <a:cs typeface="Calibri"/>
              </a:rPr>
              <a:t>arthroplasty</a:t>
            </a:r>
            <a:r>
              <a:rPr sz="245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4B4B4B"/>
                </a:solidFill>
                <a:latin typeface="Calibri"/>
                <a:cs typeface="Calibri"/>
              </a:rPr>
              <a:t>&amp;</a:t>
            </a:r>
            <a:r>
              <a:rPr sz="2450" spc="-18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3A3A3A"/>
                </a:solidFill>
                <a:latin typeface="Calibri"/>
                <a:cs typeface="Calibri"/>
              </a:rPr>
              <a:t>arthroscopy </a:t>
            </a:r>
            <a:r>
              <a:rPr sz="2450" spc="-70" dirty="0">
                <a:solidFill>
                  <a:srgbClr val="414141"/>
                </a:solidFill>
                <a:latin typeface="Calibri"/>
                <a:cs typeface="Calibri"/>
              </a:rPr>
              <a:t>procedures</a:t>
            </a:r>
            <a:r>
              <a:rPr sz="2450" spc="-2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3F3F3F"/>
                </a:solidFill>
                <a:latin typeface="Calibri"/>
                <a:cs typeface="Calibri"/>
              </a:rPr>
              <a:t>together.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59794" y="5190021"/>
            <a:ext cx="4505325" cy="26365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150" dirty="0">
                <a:solidFill>
                  <a:srgbClr val="111111"/>
                </a:solidFill>
                <a:latin typeface="Calibri"/>
                <a:cs typeface="Calibri"/>
              </a:rPr>
              <a:t>Nursing</a:t>
            </a:r>
            <a:r>
              <a:rPr sz="3850" spc="41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850" spc="130" dirty="0">
                <a:solidFill>
                  <a:srgbClr val="111111"/>
                </a:solidFill>
                <a:latin typeface="Calibri"/>
                <a:cs typeface="Calibri"/>
              </a:rPr>
              <a:t>Staff</a:t>
            </a:r>
            <a:endParaRPr sz="3850">
              <a:latin typeface="Calibri"/>
              <a:cs typeface="Calibri"/>
            </a:endParaRPr>
          </a:p>
          <a:p>
            <a:pPr marL="24130" marR="5080" indent="3175">
              <a:lnSpc>
                <a:spcPct val="120600"/>
              </a:lnSpc>
              <a:spcBef>
                <a:spcPts val="1740"/>
              </a:spcBef>
            </a:pPr>
            <a:r>
              <a:rPr sz="2450" spc="-25" dirty="0">
                <a:solidFill>
                  <a:srgbClr val="545454"/>
                </a:solidFill>
                <a:latin typeface="Calibri"/>
                <a:cs typeface="Calibri"/>
              </a:rPr>
              <a:t>Providing</a:t>
            </a:r>
            <a:r>
              <a:rPr sz="2450" spc="-114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494949"/>
                </a:solidFill>
                <a:latin typeface="Calibri"/>
                <a:cs typeface="Calibri"/>
              </a:rPr>
              <a:t>hands-</a:t>
            </a:r>
            <a:r>
              <a:rPr sz="245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2450" spc="-6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B4B4B"/>
                </a:solidFill>
                <a:latin typeface="Calibri"/>
                <a:cs typeface="Calibri"/>
              </a:rPr>
              <a:t>instrumentation </a:t>
            </a:r>
            <a:r>
              <a:rPr sz="2450" spc="-30" dirty="0">
                <a:solidFill>
                  <a:srgbClr val="3D3D3D"/>
                </a:solidFill>
                <a:latin typeface="Calibri"/>
                <a:cs typeface="Calibri"/>
              </a:rPr>
              <a:t>training</a:t>
            </a:r>
            <a:r>
              <a:rPr sz="2450" spc="-11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67727E"/>
                </a:solidFill>
                <a:latin typeface="Calibri"/>
                <a:cs typeface="Calibri"/>
              </a:rPr>
              <a:t>and</a:t>
            </a:r>
            <a:r>
              <a:rPr sz="2450" spc="-95" dirty="0">
                <a:solidFill>
                  <a:srgbClr val="67727E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545454"/>
                </a:solidFill>
                <a:latin typeface="Calibri"/>
                <a:cs typeface="Calibri"/>
              </a:rPr>
              <a:t>workflow </a:t>
            </a:r>
            <a:r>
              <a:rPr sz="2450" spc="-10" dirty="0">
                <a:solidFill>
                  <a:srgbClr val="444444"/>
                </a:solidFill>
                <a:latin typeface="Calibri"/>
                <a:cs typeface="Calibri"/>
              </a:rPr>
              <a:t>optimization </a:t>
            </a:r>
            <a:r>
              <a:rPr sz="2450" spc="-30" dirty="0">
                <a:solidFill>
                  <a:srgbClr val="4D4D4D"/>
                </a:solidFill>
                <a:latin typeface="Calibri"/>
                <a:cs typeface="Calibri"/>
              </a:rPr>
              <a:t>sessions</a:t>
            </a:r>
            <a:r>
              <a:rPr sz="2450" spc="-8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sz="2450" spc="-19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70" dirty="0">
                <a:solidFill>
                  <a:srgbClr val="4D4D4D"/>
                </a:solidFill>
                <a:latin typeface="Calibri"/>
                <a:cs typeface="Calibri"/>
              </a:rPr>
              <a:t>guarantee</a:t>
            </a:r>
            <a:r>
              <a:rPr sz="2450" spc="-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F4F4F"/>
                </a:solidFill>
                <a:latin typeface="Calibri"/>
                <a:cs typeface="Calibri"/>
              </a:rPr>
              <a:t>seamless </a:t>
            </a:r>
            <a:r>
              <a:rPr sz="2450" spc="-55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2450" spc="-6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3A3A3A"/>
                </a:solidFill>
                <a:latin typeface="Calibri"/>
                <a:cs typeface="Calibri"/>
              </a:rPr>
              <a:t>room</a:t>
            </a:r>
            <a:r>
              <a:rPr sz="2450" spc="-5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3B3B3B"/>
                </a:solidFill>
                <a:latin typeface="Calibri"/>
                <a:cs typeface="Calibri"/>
              </a:rPr>
              <a:t>synchronization.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A143DE-CD96-6EC3-B3BA-EDB6D35E2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715113" y="3967548"/>
            <a:ext cx="990738" cy="1143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170" y="6188725"/>
            <a:ext cx="5426535" cy="4044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900" b="1" kern="1200" spc="145">
                <a:solidFill>
                  <a:schemeClr val="tx1"/>
                </a:solidFill>
                <a:latin typeface="+mj-lt"/>
                <a:cs typeface="+mj-cs"/>
              </a:rPr>
              <a:t>End-</a:t>
            </a:r>
            <a:r>
              <a:rPr lang="en-US" sz="5900" b="1" kern="1200" spc="125">
                <a:solidFill>
                  <a:schemeClr val="tx1"/>
                </a:solidFill>
                <a:latin typeface="+mj-lt"/>
                <a:cs typeface="+mj-cs"/>
              </a:rPr>
              <a:t>to-</a:t>
            </a:r>
            <a:r>
              <a:rPr lang="en-US" sz="5900" b="1" kern="1200" spc="165">
                <a:solidFill>
                  <a:schemeClr val="tx1"/>
                </a:solidFill>
                <a:latin typeface="+mj-lt"/>
                <a:cs typeface="+mj-cs"/>
              </a:rPr>
              <a:t>End</a:t>
            </a:r>
            <a:r>
              <a:rPr lang="en-US" sz="5900" b="1" kern="1200" spc="235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5900" b="1" kern="1200" spc="-280">
                <a:solidFill>
                  <a:schemeClr val="tx1"/>
                </a:solidFill>
                <a:latin typeface="+mj-lt"/>
                <a:cs typeface="+mj-cs"/>
              </a:rPr>
              <a:t>OR</a:t>
            </a:r>
            <a:r>
              <a:rPr lang="en-US" sz="5900" b="1" kern="1200" spc="170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5900" b="1" kern="1200" spc="-10">
                <a:solidFill>
                  <a:schemeClr val="tx1"/>
                </a:solidFill>
                <a:latin typeface="+mj-lt"/>
                <a:cs typeface="+mj-cs"/>
              </a:rPr>
              <a:t>Support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7DFB00-1559-14BE-5821-E2B2705D8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8" b="29194"/>
          <a:stretch>
            <a:fillRect/>
          </a:stretch>
        </p:blipFill>
        <p:spPr>
          <a:xfrm>
            <a:off x="20" y="10"/>
            <a:ext cx="20104080" cy="5730865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object 3"/>
          <p:cNvSpPr txBox="1"/>
          <p:nvPr/>
        </p:nvSpPr>
        <p:spPr>
          <a:xfrm>
            <a:off x="6965170" y="6188727"/>
            <a:ext cx="12343134" cy="4044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83870" marR="269240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81330" algn="l"/>
              </a:tabLst>
            </a:pPr>
            <a:r>
              <a:rPr lang="en-US" sz="2800" kern="1200" spc="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</a:t>
            </a:r>
            <a:r>
              <a:rPr lang="en-US" sz="28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Technical</a:t>
            </a:r>
            <a:r>
              <a:rPr lang="en-US" sz="28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Guidance:</a:t>
            </a:r>
            <a:r>
              <a:rPr lang="en-US" sz="28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Expert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technical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coordinators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800" kern="1200" spc="-2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surgical</a:t>
            </a:r>
            <a:r>
              <a:rPr lang="en-US" sz="2800" kern="1200" spc="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suite</a:t>
            </a:r>
            <a:r>
              <a:rPr lang="en-US" sz="2800" kern="1200" spc="-2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8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800" kern="1200" spc="-20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implant navigation.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93395" marR="5080" indent="-228600" algn="l" rtl="0">
              <a:lnSpc>
                <a:spcPct val="90000"/>
              </a:lnSpc>
              <a:spcBef>
                <a:spcPts val="1730"/>
              </a:spcBef>
              <a:buFont typeface="Arial" panose="020B0604020202020204" pitchFamily="34" charset="0"/>
              <a:buChar char="•"/>
              <a:tabLst>
                <a:tab pos="488950" algn="l"/>
              </a:tabLst>
            </a:pP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Paramedical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Training:</a:t>
            </a:r>
            <a:r>
              <a:rPr lang="en-US" sz="28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</a:t>
            </a:r>
            <a:r>
              <a:rPr lang="en-US" sz="28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educational</a:t>
            </a:r>
            <a:r>
              <a:rPr lang="en-US" sz="2800" kern="1200" spc="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workflows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800" kern="1200" spc="-2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nurses 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8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28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techs,</a:t>
            </a:r>
            <a:r>
              <a:rPr lang="en-US" sz="28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minimizing</a:t>
            </a:r>
            <a:r>
              <a:rPr lang="en-US" sz="2800" kern="1200" spc="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setup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slip-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ups.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83870" marR="444500" indent="-228600" algn="l" rtl="0">
              <a:lnSpc>
                <a:spcPct val="90000"/>
              </a:lnSpc>
              <a:spcBef>
                <a:spcPts val="1855"/>
              </a:spcBef>
              <a:buFont typeface="Arial" panose="020B0604020202020204" pitchFamily="34" charset="0"/>
              <a:buChar char="•"/>
              <a:tabLst>
                <a:tab pos="488950" algn="l"/>
              </a:tabLst>
            </a:pP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Post-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Surgical</a:t>
            </a:r>
            <a:r>
              <a:rPr lang="en-US" sz="2800" kern="1200" spc="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Alignment:</a:t>
            </a:r>
            <a:r>
              <a:rPr lang="en-US" sz="28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Seamless</a:t>
            </a:r>
            <a:r>
              <a:rPr lang="en-US" sz="28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integration</a:t>
            </a:r>
            <a:r>
              <a:rPr lang="en-US" sz="28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800" kern="1200" spc="-229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rehabilitation</a:t>
            </a:r>
            <a:r>
              <a:rPr lang="en-US" sz="2800" kern="1200" spc="-229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insights</a:t>
            </a:r>
            <a:r>
              <a:rPr lang="en-US" sz="28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8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quicker</a:t>
            </a:r>
            <a:r>
              <a:rPr lang="en-US" sz="28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recovery.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85140" marR="669290" indent="-228600" algn="l" rtl="0">
              <a:lnSpc>
                <a:spcPct val="90000"/>
              </a:lnSpc>
              <a:spcBef>
                <a:spcPts val="1730"/>
              </a:spcBef>
              <a:buFont typeface="Arial" panose="020B0604020202020204" pitchFamily="34" charset="0"/>
              <a:buChar char="•"/>
              <a:tabLst>
                <a:tab pos="484505" algn="l"/>
              </a:tabLst>
            </a:pP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Optimized</a:t>
            </a:r>
            <a:r>
              <a:rPr lang="en-US" sz="28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Timelines:</a:t>
            </a:r>
            <a:r>
              <a:rPr lang="en-US" sz="28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Turning</a:t>
            </a:r>
            <a:r>
              <a:rPr lang="en-US" sz="28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</a:t>
            </a:r>
            <a:r>
              <a:rPr lang="en-US" sz="28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bone</a:t>
            </a:r>
            <a:r>
              <a:rPr lang="en-US" sz="28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surgeries</a:t>
            </a:r>
            <a:r>
              <a:rPr lang="en-US" sz="28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</a:t>
            </a:r>
            <a:r>
              <a:rPr lang="en-US" sz="28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efficient,</a:t>
            </a:r>
            <a:r>
              <a:rPr lang="en-US" sz="28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highly</a:t>
            </a:r>
            <a:r>
              <a:rPr lang="en-US" sz="28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standardized</a:t>
            </a:r>
            <a:r>
              <a:rPr lang="en-US" sz="2800" kern="1200" spc="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procedures.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51BA-AAC7-2AE8-D874-D2E0FF9C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240" y="5804740"/>
            <a:ext cx="8320967" cy="29614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7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Current Potential Suppliers</a:t>
            </a:r>
          </a:p>
        </p:txBody>
      </p:sp>
      <p:pic>
        <p:nvPicPr>
          <p:cNvPr id="1028" name="Picture 4" descr="Osteocare Medical | LinkedIn">
            <a:extLst>
              <a:ext uri="{FF2B5EF4-FFF2-40B4-BE49-F238E27FC236}">
                <a16:creationId xmlns:a16="http://schemas.microsoft.com/office/drawing/2014/main" id="{94C0EB5E-E814-6F5C-89ED-33E0C8608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r="2" b="2"/>
          <a:stretch>
            <a:fillRect/>
          </a:stretch>
        </p:blipFill>
        <p:spPr bwMode="auto">
          <a:xfrm>
            <a:off x="1627220" y="1597937"/>
            <a:ext cx="3666045" cy="366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Freeform: Shape 1098">
            <a:extLst>
              <a:ext uri="{FF2B5EF4-FFF2-40B4-BE49-F238E27FC236}">
                <a16:creationId xmlns:a16="http://schemas.microsoft.com/office/drawing/2014/main" id="{7BC0F8B1-F985-469B-8332-13DBC766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954872" y="743804"/>
            <a:ext cx="3806757" cy="4520436"/>
          </a:xfrm>
          <a:custGeom>
            <a:avLst/>
            <a:gdLst>
              <a:gd name="connsiteX0" fmla="*/ 2308583 w 2308583"/>
              <a:gd name="connsiteY0" fmla="*/ 2741196 h 2741196"/>
              <a:gd name="connsiteX1" fmla="*/ 462 w 2308583"/>
              <a:gd name="connsiteY1" fmla="*/ 2741196 h 2741196"/>
              <a:gd name="connsiteX2" fmla="*/ 0 w 2308583"/>
              <a:gd name="connsiteY2" fmla="*/ 2469337 h 2741196"/>
              <a:gd name="connsiteX3" fmla="*/ 2022607 w 2308583"/>
              <a:gd name="connsiteY3" fmla="*/ 2470269 h 2741196"/>
              <a:gd name="connsiteX4" fmla="*/ 2022607 w 2308583"/>
              <a:gd name="connsiteY4" fmla="*/ 0 h 2741196"/>
              <a:gd name="connsiteX5" fmla="*/ 2308583 w 2308583"/>
              <a:gd name="connsiteY5" fmla="*/ 0 h 274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741196">
                <a:moveTo>
                  <a:pt x="2308583" y="2741196"/>
                </a:moveTo>
                <a:lnTo>
                  <a:pt x="462" y="2741196"/>
                </a:lnTo>
                <a:cubicBezTo>
                  <a:pt x="-462" y="2647366"/>
                  <a:pt x="923" y="2563167"/>
                  <a:pt x="0" y="2469337"/>
                </a:cubicBezTo>
                <a:lnTo>
                  <a:pt x="2022607" y="2470269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pic>
        <p:nvPicPr>
          <p:cNvPr id="1026" name="Picture 2" descr="Biotek Ortho | LinkedIn">
            <a:extLst>
              <a:ext uri="{FF2B5EF4-FFF2-40B4-BE49-F238E27FC236}">
                <a16:creationId xmlns:a16="http://schemas.microsoft.com/office/drawing/2014/main" id="{B90504B8-355E-6820-609A-E27450479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" b="2"/>
          <a:stretch>
            <a:fillRect/>
          </a:stretch>
        </p:blipFill>
        <p:spPr bwMode="auto">
          <a:xfrm>
            <a:off x="8095676" y="715698"/>
            <a:ext cx="4548220" cy="454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EWCLIP TECHNICS - La French Fab">
            <a:extLst>
              <a:ext uri="{FF2B5EF4-FFF2-40B4-BE49-F238E27FC236}">
                <a16:creationId xmlns:a16="http://schemas.microsoft.com/office/drawing/2014/main" id="{466E3485-0B2D-1D5E-42F6-FEE56977E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" r="5845" b="-1"/>
          <a:stretch>
            <a:fillRect/>
          </a:stretch>
        </p:blipFill>
        <p:spPr bwMode="auto">
          <a:xfrm>
            <a:off x="14785890" y="1474153"/>
            <a:ext cx="3073987" cy="307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8" name="Freeform: Shape 1097">
            <a:extLst>
              <a:ext uri="{FF2B5EF4-FFF2-40B4-BE49-F238E27FC236}">
                <a16:creationId xmlns:a16="http://schemas.microsoft.com/office/drawing/2014/main" id="{89D15953-1642-4DD6-AD9E-01AA19247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5610650" y="715698"/>
            <a:ext cx="3806757" cy="1837734"/>
          </a:xfrm>
          <a:custGeom>
            <a:avLst/>
            <a:gdLst>
              <a:gd name="connsiteX0" fmla="*/ 462 w 2308583"/>
              <a:gd name="connsiteY0" fmla="*/ 1114404 h 1114404"/>
              <a:gd name="connsiteX1" fmla="*/ 2308583 w 2308583"/>
              <a:gd name="connsiteY1" fmla="*/ 1114404 h 1114404"/>
              <a:gd name="connsiteX2" fmla="*/ 2308583 w 2308583"/>
              <a:gd name="connsiteY2" fmla="*/ 0 h 1114404"/>
              <a:gd name="connsiteX3" fmla="*/ 2022607 w 2308583"/>
              <a:gd name="connsiteY3" fmla="*/ 0 h 1114404"/>
              <a:gd name="connsiteX4" fmla="*/ 2022607 w 2308583"/>
              <a:gd name="connsiteY4" fmla="*/ 843477 h 1114404"/>
              <a:gd name="connsiteX5" fmla="*/ 0 w 2308583"/>
              <a:gd name="connsiteY5" fmla="*/ 842545 h 1114404"/>
              <a:gd name="connsiteX6" fmla="*/ 462 w 2308583"/>
              <a:gd name="connsiteY6" fmla="*/ 1114404 h 11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583" h="1114404">
                <a:moveTo>
                  <a:pt x="462" y="1114404"/>
                </a:moveTo>
                <a:lnTo>
                  <a:pt x="2308583" y="1114404"/>
                </a:lnTo>
                <a:lnTo>
                  <a:pt x="2308583" y="0"/>
                </a:lnTo>
                <a:lnTo>
                  <a:pt x="2022607" y="0"/>
                </a:lnTo>
                <a:lnTo>
                  <a:pt x="2022607" y="843477"/>
                </a:lnTo>
                <a:lnTo>
                  <a:pt x="0" y="842545"/>
                </a:lnTo>
                <a:cubicBezTo>
                  <a:pt x="923" y="936375"/>
                  <a:pt x="-462" y="1020574"/>
                  <a:pt x="462" y="1114404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1918D9D3-1370-4FF6-9DFC-9F87F903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07807" y="8867430"/>
            <a:ext cx="7235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Uteshiya Medicare | Ahmedabad">
            <a:extLst>
              <a:ext uri="{FF2B5EF4-FFF2-40B4-BE49-F238E27FC236}">
                <a16:creationId xmlns:a16="http://schemas.microsoft.com/office/drawing/2014/main" id="{1C386D9C-0EB2-31D2-BC9E-60FB3272E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95850" y="5918394"/>
            <a:ext cx="3263165" cy="345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trix Meditec - manufacturer of ...">
            <a:extLst>
              <a:ext uri="{FF2B5EF4-FFF2-40B4-BE49-F238E27FC236}">
                <a16:creationId xmlns:a16="http://schemas.microsoft.com/office/drawing/2014/main" id="{35563717-C6B3-BDC5-33FF-530303C0D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5080"/>
          <a:stretch>
            <a:fillRect/>
          </a:stretch>
        </p:blipFill>
        <p:spPr bwMode="auto">
          <a:xfrm>
            <a:off x="14896809" y="4985116"/>
            <a:ext cx="4489662" cy="448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2" name="Freeform 6">
            <a:extLst>
              <a:ext uri="{FF2B5EF4-FFF2-40B4-BE49-F238E27FC236}">
                <a16:creationId xmlns:a16="http://schemas.microsoft.com/office/drawing/2014/main" id="{FBF3780C-749F-4B50-9E1D-F2B1F6DBB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3977944" y="4813650"/>
            <a:ext cx="4163738" cy="5605193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9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865" y="5159528"/>
            <a:ext cx="950232" cy="1523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5400" spc="245" dirty="0">
                <a:solidFill>
                  <a:srgbClr val="161616"/>
                </a:solidFill>
              </a:rPr>
              <a:t>Rapidly</a:t>
            </a:r>
            <a:r>
              <a:rPr sz="5400" spc="-100" dirty="0">
                <a:solidFill>
                  <a:srgbClr val="161616"/>
                </a:solidFill>
              </a:rPr>
              <a:t> </a:t>
            </a:r>
            <a:r>
              <a:rPr sz="5400" spc="75" dirty="0">
                <a:solidFill>
                  <a:srgbClr val="151515"/>
                </a:solidFill>
              </a:rPr>
              <a:t>Growing</a:t>
            </a:r>
            <a:r>
              <a:rPr sz="5400" spc="170" dirty="0">
                <a:solidFill>
                  <a:srgbClr val="151515"/>
                </a:solidFill>
              </a:rPr>
              <a:t> </a:t>
            </a:r>
            <a:r>
              <a:rPr sz="5400" spc="85" dirty="0">
                <a:solidFill>
                  <a:srgbClr val="131313"/>
                </a:solidFill>
              </a:rPr>
              <a:t>Market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2609241" y="3667617"/>
            <a:ext cx="5880100" cy="3857625"/>
          </a:xfrm>
          <a:prstGeom prst="rect">
            <a:avLst/>
          </a:prstGeom>
        </p:spPr>
        <p:txBody>
          <a:bodyPr vert="horz" wrap="square" lIns="0" tIns="734060" rIns="0" bIns="0" rtlCol="0">
            <a:spAutoFit/>
          </a:bodyPr>
          <a:lstStyle/>
          <a:p>
            <a:pPr marL="996315" algn="ctr">
              <a:lnSpc>
                <a:spcPct val="100000"/>
              </a:lnSpc>
              <a:spcBef>
                <a:spcPts val="5780"/>
              </a:spcBef>
            </a:pPr>
            <a:r>
              <a:rPr sz="16600" spc="-10" dirty="0">
                <a:solidFill>
                  <a:srgbClr val="0EAEBD"/>
                </a:solidFill>
                <a:latin typeface="Calibri"/>
                <a:cs typeface="Calibri"/>
              </a:rPr>
              <a:t>52.8B</a:t>
            </a:r>
            <a:endParaRPr sz="16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950" spc="60" dirty="0">
                <a:solidFill>
                  <a:srgbClr val="0E0E0E"/>
                </a:solidFill>
                <a:latin typeface="Calibri"/>
                <a:cs typeface="Calibri"/>
              </a:rPr>
              <a:t>Global</a:t>
            </a:r>
            <a:r>
              <a:rPr sz="2950" spc="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0F0F0F"/>
                </a:solidFill>
                <a:latin typeface="Calibri"/>
                <a:cs typeface="Calibri"/>
              </a:rPr>
              <a:t>Orthopedic</a:t>
            </a:r>
            <a:r>
              <a:rPr sz="2950" spc="38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31313"/>
                </a:solidFill>
                <a:latin typeface="Calibri"/>
                <a:cs typeface="Calibri"/>
              </a:rPr>
              <a:t>Implants</a:t>
            </a:r>
            <a:r>
              <a:rPr sz="2950" spc="18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81818"/>
                </a:solidFill>
                <a:latin typeface="Calibri"/>
                <a:cs typeface="Calibri"/>
              </a:rPr>
              <a:t>Market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99356" y="4089923"/>
            <a:ext cx="8291830" cy="4191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spc="80" dirty="0">
                <a:solidFill>
                  <a:srgbClr val="131313"/>
                </a:solidFill>
                <a:latin typeface="Calibri"/>
                <a:cs typeface="Calibri"/>
              </a:rPr>
              <a:t>Highly</a:t>
            </a:r>
            <a:r>
              <a:rPr sz="4000" spc="17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4000" spc="90" dirty="0">
                <a:solidFill>
                  <a:srgbClr val="131313"/>
                </a:solidFill>
                <a:latin typeface="Calibri"/>
                <a:cs typeface="Calibri"/>
              </a:rPr>
              <a:t>Attractive</a:t>
            </a:r>
            <a:r>
              <a:rPr sz="4000" spc="15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4000" spc="75" dirty="0">
                <a:solidFill>
                  <a:srgbClr val="0E0E0E"/>
                </a:solidFill>
                <a:latin typeface="Calibri"/>
                <a:cs typeface="Calibri"/>
              </a:rPr>
              <a:t>Industry</a:t>
            </a:r>
            <a:r>
              <a:rPr sz="4000" spc="19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111111"/>
                </a:solidFill>
                <a:latin typeface="Calibri"/>
                <a:cs typeface="Calibri"/>
              </a:rPr>
              <a:t>T</a:t>
            </a:r>
            <a:r>
              <a:rPr lang="en-US" sz="4000" spc="-10" dirty="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sz="4000" spc="-10" dirty="0">
                <a:solidFill>
                  <a:srgbClr val="111111"/>
                </a:solidFill>
                <a:latin typeface="Calibri"/>
                <a:cs typeface="Calibri"/>
              </a:rPr>
              <a:t>ilwind</a:t>
            </a:r>
            <a:endParaRPr sz="4000" dirty="0">
              <a:latin typeface="Calibri"/>
              <a:cs typeface="Calibri"/>
            </a:endParaRPr>
          </a:p>
          <a:p>
            <a:pPr marL="26034" marR="5080" indent="2540">
              <a:lnSpc>
                <a:spcPct val="119900"/>
              </a:lnSpc>
              <a:spcBef>
                <a:spcPts val="1730"/>
              </a:spcBef>
            </a:pPr>
            <a:r>
              <a:rPr sz="2450" dirty="0">
                <a:solidFill>
                  <a:srgbClr val="495474"/>
                </a:solidFill>
                <a:latin typeface="Calibri"/>
                <a:cs typeface="Calibri"/>
              </a:rPr>
              <a:t>I</a:t>
            </a:r>
            <a:r>
              <a:rPr sz="2450" dirty="0">
                <a:solidFill>
                  <a:srgbClr val="5B6780"/>
                </a:solidFill>
                <a:latin typeface="Calibri"/>
                <a:cs typeface="Calibri"/>
              </a:rPr>
              <a:t>n</a:t>
            </a:r>
            <a:r>
              <a:rPr sz="2450" spc="-235" dirty="0">
                <a:solidFill>
                  <a:srgbClr val="5B678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14141"/>
                </a:solidFill>
                <a:latin typeface="Calibri"/>
                <a:cs typeface="Calibri"/>
              </a:rPr>
              <a:t>2026,</a:t>
            </a:r>
            <a:r>
              <a:rPr sz="2450" spc="-11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D4D4D"/>
                </a:solidFill>
                <a:latin typeface="Calibri"/>
                <a:cs typeface="Calibri"/>
              </a:rPr>
              <a:t>the</a:t>
            </a:r>
            <a:r>
              <a:rPr sz="2450" spc="-1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24242"/>
                </a:solidFill>
                <a:latin typeface="Calibri"/>
                <a:cs typeface="Calibri"/>
              </a:rPr>
              <a:t>orthopedic</a:t>
            </a:r>
            <a:r>
              <a:rPr sz="2450" spc="-8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424242"/>
                </a:solidFill>
                <a:latin typeface="Calibri"/>
                <a:cs typeface="Calibri"/>
              </a:rPr>
              <a:t>sector</a:t>
            </a:r>
            <a:r>
              <a:rPr sz="2450" spc="-8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4D4D4D"/>
                </a:solidFill>
                <a:latin typeface="Calibri"/>
                <a:cs typeface="Calibri"/>
              </a:rPr>
              <a:t>is</a:t>
            </a:r>
            <a:r>
              <a:rPr sz="2450" spc="-1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84848"/>
                </a:solidFill>
                <a:latin typeface="Calibri"/>
                <a:cs typeface="Calibri"/>
              </a:rPr>
              <a:t>experiencing</a:t>
            </a:r>
            <a:r>
              <a:rPr sz="2450" spc="-7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3F3F3F"/>
                </a:solidFill>
                <a:latin typeface="Calibri"/>
                <a:cs typeface="Calibri"/>
              </a:rPr>
              <a:t>robust</a:t>
            </a:r>
            <a:r>
              <a:rPr sz="245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484848"/>
                </a:solidFill>
                <a:latin typeface="Calibri"/>
                <a:cs typeface="Calibri"/>
              </a:rPr>
              <a:t>global</a:t>
            </a:r>
            <a:r>
              <a:rPr sz="2450" spc="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484848"/>
                </a:solidFill>
                <a:latin typeface="Calibri"/>
                <a:cs typeface="Calibri"/>
              </a:rPr>
              <a:t>demand, </a:t>
            </a:r>
            <a:r>
              <a:rPr sz="2450" spc="-85" dirty="0">
                <a:solidFill>
                  <a:srgbClr val="444444"/>
                </a:solidFill>
                <a:latin typeface="Calibri"/>
                <a:cs typeface="Calibri"/>
              </a:rPr>
              <a:t>fueled</a:t>
            </a:r>
            <a:r>
              <a:rPr sz="2450" spc="-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485B7B"/>
                </a:solidFill>
                <a:latin typeface="Calibri"/>
                <a:cs typeface="Calibri"/>
              </a:rPr>
              <a:t>by</a:t>
            </a:r>
            <a:r>
              <a:rPr sz="2450" spc="-145" dirty="0">
                <a:solidFill>
                  <a:srgbClr val="485B7B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4D4D4D"/>
                </a:solidFill>
                <a:latin typeface="Calibri"/>
                <a:cs typeface="Calibri"/>
              </a:rPr>
              <a:t>an</a:t>
            </a:r>
            <a:r>
              <a:rPr sz="2450" spc="-1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708797"/>
                </a:solidFill>
                <a:latin typeface="Calibri"/>
                <a:cs typeface="Calibri"/>
              </a:rPr>
              <a:t>aging</a:t>
            </a:r>
            <a:r>
              <a:rPr sz="2450" spc="-130" dirty="0">
                <a:solidFill>
                  <a:srgbClr val="708797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3F3F3F"/>
                </a:solidFill>
                <a:latin typeface="Calibri"/>
                <a:cs typeface="Calibri"/>
              </a:rPr>
              <a:t>population,</a:t>
            </a:r>
            <a:r>
              <a:rPr sz="245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Calibri"/>
                <a:cs typeface="Calibri"/>
              </a:rPr>
              <a:t>rising</a:t>
            </a:r>
            <a:r>
              <a:rPr sz="2450" spc="-1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444444"/>
                </a:solidFill>
                <a:latin typeface="Calibri"/>
                <a:cs typeface="Calibri"/>
              </a:rPr>
              <a:t>osteoarthritis</a:t>
            </a:r>
            <a:r>
              <a:rPr sz="2450" spc="-1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70" dirty="0">
                <a:solidFill>
                  <a:srgbClr val="4F4F4F"/>
                </a:solidFill>
                <a:latin typeface="Calibri"/>
                <a:cs typeface="Calibri"/>
              </a:rPr>
              <a:t>rates,</a:t>
            </a:r>
            <a:r>
              <a:rPr sz="2450" spc="-4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484848"/>
                </a:solidFill>
                <a:latin typeface="Calibri"/>
                <a:cs typeface="Calibri"/>
              </a:rPr>
              <a:t>and</a:t>
            </a:r>
            <a:r>
              <a:rPr sz="2450" spc="-5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546B89"/>
                </a:solidFill>
                <a:latin typeface="Calibri"/>
                <a:cs typeface="Calibri"/>
              </a:rPr>
              <a:t>high </a:t>
            </a:r>
            <a:r>
              <a:rPr sz="2450" spc="-25" dirty="0">
                <a:solidFill>
                  <a:srgbClr val="444444"/>
                </a:solidFill>
                <a:latin typeface="Calibri"/>
                <a:cs typeface="Calibri"/>
              </a:rPr>
              <a:t>sports</a:t>
            </a:r>
            <a:r>
              <a:rPr sz="245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494949"/>
                </a:solidFill>
                <a:latin typeface="Calibri"/>
                <a:cs typeface="Calibri"/>
              </a:rPr>
              <a:t>injury</a:t>
            </a:r>
            <a:r>
              <a:rPr sz="2450" spc="-1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Calibri"/>
                <a:cs typeface="Calibri"/>
              </a:rPr>
              <a:t>frequencies.</a:t>
            </a:r>
            <a:endParaRPr sz="2450" dirty="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2135"/>
              </a:spcBef>
            </a:pPr>
            <a:r>
              <a:rPr sz="2450" dirty="0">
                <a:solidFill>
                  <a:srgbClr val="415264"/>
                </a:solidFill>
                <a:latin typeface="Calibri"/>
                <a:cs typeface="Calibri"/>
              </a:rPr>
              <a:t>With</a:t>
            </a:r>
            <a:r>
              <a:rPr sz="2450" spc="-155" dirty="0">
                <a:solidFill>
                  <a:srgbClr val="415264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4F4F4F"/>
                </a:solidFill>
                <a:latin typeface="Calibri"/>
                <a:cs typeface="Calibri"/>
              </a:rPr>
              <a:t>a</a:t>
            </a:r>
            <a:r>
              <a:rPr sz="2450" spc="-21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505050"/>
                </a:solidFill>
                <a:latin typeface="Calibri"/>
                <a:cs typeface="Calibri"/>
              </a:rPr>
              <a:t>healthy</a:t>
            </a:r>
            <a:r>
              <a:rPr sz="2450" spc="-9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450" spc="135" dirty="0">
                <a:solidFill>
                  <a:srgbClr val="525252"/>
                </a:solidFill>
                <a:latin typeface="Calibri"/>
                <a:cs typeface="Calibri"/>
              </a:rPr>
              <a:t>CAGR</a:t>
            </a:r>
            <a:r>
              <a:rPr sz="2450" spc="-1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525775"/>
                </a:solidFill>
                <a:latin typeface="Calibri"/>
                <a:cs typeface="Calibri"/>
              </a:rPr>
              <a:t>of</a:t>
            </a:r>
            <a:r>
              <a:rPr sz="2450" spc="-114" dirty="0">
                <a:solidFill>
                  <a:srgbClr val="525775"/>
                </a:solidFill>
                <a:latin typeface="Calibri"/>
                <a:cs typeface="Calibri"/>
              </a:rPr>
              <a:t> </a:t>
            </a:r>
            <a:r>
              <a:rPr sz="2450" spc="-70" dirty="0">
                <a:solidFill>
                  <a:srgbClr val="444444"/>
                </a:solidFill>
                <a:latin typeface="Calibri"/>
                <a:cs typeface="Calibri"/>
              </a:rPr>
              <a:t>5.3%,</a:t>
            </a:r>
            <a:r>
              <a:rPr sz="2450" spc="-10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2450" spc="-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4F4F4F"/>
                </a:solidFill>
                <a:latin typeface="Calibri"/>
                <a:cs typeface="Calibri"/>
              </a:rPr>
              <a:t>industry</a:t>
            </a:r>
            <a:r>
              <a:rPr sz="2450" spc="-3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D4D4D"/>
                </a:solidFill>
                <a:latin typeface="Calibri"/>
                <a:cs typeface="Calibri"/>
              </a:rPr>
              <a:t>is</a:t>
            </a:r>
            <a:r>
              <a:rPr sz="2450" spc="-1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4B4B4B"/>
                </a:solidFill>
                <a:latin typeface="Calibri"/>
                <a:cs typeface="Calibri"/>
              </a:rPr>
              <a:t>projected</a:t>
            </a:r>
            <a:r>
              <a:rPr sz="245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sz="2450" spc="-1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94949"/>
                </a:solidFill>
                <a:latin typeface="Calibri"/>
                <a:cs typeface="Calibri"/>
              </a:rPr>
              <a:t>reach</a:t>
            </a:r>
            <a:endParaRPr sz="2450" dirty="0">
              <a:latin typeface="Calibri"/>
              <a:cs typeface="Calibri"/>
            </a:endParaRPr>
          </a:p>
          <a:p>
            <a:pPr marL="24130" marR="610870" indent="8255">
              <a:lnSpc>
                <a:spcPct val="119900"/>
              </a:lnSpc>
              <a:spcBef>
                <a:spcPts val="60"/>
              </a:spcBef>
            </a:pPr>
            <a:r>
              <a:rPr sz="2450" spc="-55" dirty="0">
                <a:solidFill>
                  <a:srgbClr val="4F4F4F"/>
                </a:solidFill>
                <a:latin typeface="Calibri"/>
                <a:cs typeface="Calibri"/>
              </a:rPr>
              <a:t>$84.4</a:t>
            </a:r>
            <a:r>
              <a:rPr sz="2450" spc="-18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424242"/>
                </a:solidFill>
                <a:latin typeface="Calibri"/>
                <a:cs typeface="Calibri"/>
              </a:rPr>
              <a:t>Billion</a:t>
            </a:r>
            <a:r>
              <a:rPr sz="2450" spc="-1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606777"/>
                </a:solidFill>
                <a:latin typeface="Calibri"/>
                <a:cs typeface="Calibri"/>
              </a:rPr>
              <a:t>by</a:t>
            </a:r>
            <a:r>
              <a:rPr sz="2450" spc="-195" dirty="0">
                <a:solidFill>
                  <a:srgbClr val="606777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414141"/>
                </a:solidFill>
                <a:latin typeface="Calibri"/>
                <a:cs typeface="Calibri"/>
              </a:rPr>
              <a:t>2035.</a:t>
            </a:r>
            <a:r>
              <a:rPr sz="2450" spc="-9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505050"/>
                </a:solidFill>
                <a:latin typeface="Calibri"/>
                <a:cs typeface="Calibri"/>
              </a:rPr>
              <a:t>Tenexis</a:t>
            </a:r>
            <a:r>
              <a:rPr sz="2450" spc="5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505050"/>
                </a:solidFill>
                <a:latin typeface="Calibri"/>
                <a:cs typeface="Calibri"/>
              </a:rPr>
              <a:t>is</a:t>
            </a:r>
            <a:r>
              <a:rPr sz="2450" spc="-14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464646"/>
                </a:solidFill>
                <a:latin typeface="Calibri"/>
                <a:cs typeface="Calibri"/>
              </a:rPr>
              <a:t>perfectly</a:t>
            </a:r>
            <a:r>
              <a:rPr sz="2450" spc="-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64646"/>
                </a:solidFill>
                <a:latin typeface="Calibri"/>
                <a:cs typeface="Calibri"/>
              </a:rPr>
              <a:t>positioned</a:t>
            </a:r>
            <a:r>
              <a:rPr sz="2450" spc="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2450" spc="-1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64646"/>
                </a:solidFill>
                <a:latin typeface="Calibri"/>
                <a:cs typeface="Calibri"/>
              </a:rPr>
              <a:t>capture </a:t>
            </a:r>
            <a:r>
              <a:rPr sz="2450" spc="-90" dirty="0">
                <a:solidFill>
                  <a:srgbClr val="4F4F4F"/>
                </a:solidFill>
                <a:latin typeface="Calibri"/>
                <a:cs typeface="Calibri"/>
              </a:rPr>
              <a:t>premium</a:t>
            </a:r>
            <a:r>
              <a:rPr sz="2450" spc="-4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4F4F4F"/>
                </a:solidFill>
                <a:latin typeface="Calibri"/>
                <a:cs typeface="Calibri"/>
              </a:rPr>
              <a:t>market</a:t>
            </a:r>
            <a:r>
              <a:rPr sz="2450" spc="-3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70" dirty="0">
                <a:solidFill>
                  <a:srgbClr val="525252"/>
                </a:solidFill>
                <a:latin typeface="Calibri"/>
                <a:cs typeface="Calibri"/>
              </a:rPr>
              <a:t>share</a:t>
            </a:r>
            <a:r>
              <a:rPr sz="245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3B3B3B"/>
                </a:solidFill>
                <a:latin typeface="Calibri"/>
                <a:cs typeface="Calibri"/>
              </a:rPr>
              <a:t>by</a:t>
            </a:r>
            <a:r>
              <a:rPr sz="2450" spc="-16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4B4B4B"/>
                </a:solidFill>
                <a:latin typeface="Calibri"/>
                <a:cs typeface="Calibri"/>
              </a:rPr>
              <a:t>offering</a:t>
            </a:r>
            <a:r>
              <a:rPr sz="2450" spc="-8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64646"/>
                </a:solidFill>
                <a:latin typeface="Calibri"/>
                <a:cs typeface="Calibri"/>
              </a:rPr>
              <a:t>localized</a:t>
            </a:r>
            <a:r>
              <a:rPr sz="2450" spc="-6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4F4F4F"/>
                </a:solidFill>
                <a:latin typeface="Calibri"/>
                <a:cs typeface="Calibri"/>
              </a:rPr>
              <a:t>clinical</a:t>
            </a:r>
            <a:r>
              <a:rPr sz="2450" spc="3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4D4D4D"/>
                </a:solidFill>
                <a:latin typeface="Calibri"/>
                <a:cs typeface="Calibri"/>
              </a:rPr>
              <a:t>support,</a:t>
            </a:r>
            <a:r>
              <a:rPr sz="2450" spc="-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79879A"/>
                </a:solidFill>
                <a:latin typeface="Calibri"/>
                <a:cs typeface="Calibri"/>
              </a:rPr>
              <a:t>a </a:t>
            </a:r>
            <a:r>
              <a:rPr sz="2450" spc="-30" dirty="0">
                <a:solidFill>
                  <a:srgbClr val="484848"/>
                </a:solidFill>
                <a:latin typeface="Calibri"/>
                <a:cs typeface="Calibri"/>
              </a:rPr>
              <a:t>differentiator</a:t>
            </a:r>
            <a:r>
              <a:rPr sz="2450" spc="-229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464646"/>
                </a:solidFill>
                <a:latin typeface="Calibri"/>
                <a:cs typeface="Calibri"/>
              </a:rPr>
              <a:t>that</a:t>
            </a:r>
            <a:r>
              <a:rPr sz="2450" spc="-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4D4D4D"/>
                </a:solidFill>
                <a:latin typeface="Calibri"/>
                <a:cs typeface="Calibri"/>
              </a:rPr>
              <a:t>legacy</a:t>
            </a:r>
            <a:r>
              <a:rPr sz="2450" spc="-114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464646"/>
                </a:solidFill>
                <a:latin typeface="Calibri"/>
                <a:cs typeface="Calibri"/>
              </a:rPr>
              <a:t>providers</a:t>
            </a:r>
            <a:r>
              <a:rPr sz="2450" spc="-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494949"/>
                </a:solidFill>
                <a:latin typeface="Calibri"/>
                <a:cs typeface="Calibri"/>
              </a:rPr>
              <a:t>consistently</a:t>
            </a:r>
            <a:r>
              <a:rPr sz="2450" spc="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424242"/>
                </a:solidFill>
                <a:latin typeface="Calibri"/>
                <a:cs typeface="Calibri"/>
              </a:rPr>
              <a:t>overlook.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6518126"/>
            <a:ext cx="17591087" cy="4397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65" dirty="0">
                <a:solidFill>
                  <a:srgbClr val="131313"/>
                </a:solidFill>
              </a:rPr>
              <a:t>Tenexis</a:t>
            </a:r>
            <a:r>
              <a:rPr spc="-135" dirty="0">
                <a:solidFill>
                  <a:srgbClr val="131313"/>
                </a:solidFill>
              </a:rPr>
              <a:t> </a:t>
            </a:r>
            <a:r>
              <a:rPr spc="180" dirty="0"/>
              <a:t>Roodmop</a:t>
            </a:r>
            <a:r>
              <a:rPr spc="130" dirty="0"/>
              <a:t> </a:t>
            </a:r>
            <a:r>
              <a:rPr spc="-10" dirty="0">
                <a:solidFill>
                  <a:srgbClr val="181818"/>
                </a:solidFill>
              </a:rPr>
              <a:t>to</a:t>
            </a:r>
            <a:r>
              <a:rPr spc="-445" dirty="0">
                <a:solidFill>
                  <a:srgbClr val="181818"/>
                </a:solidFill>
              </a:rPr>
              <a:t> </a:t>
            </a:r>
            <a:r>
              <a:rPr spc="85" dirty="0"/>
              <a:t>Exponsion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6626" y="6788140"/>
            <a:ext cx="3348990" cy="1542666"/>
          </a:xfrm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2005"/>
              </a:spcBef>
            </a:pPr>
            <a:r>
              <a:rPr sz="3100" spc="-30" dirty="0">
                <a:solidFill>
                  <a:srgbClr val="0A0A0A"/>
                </a:solidFill>
                <a:latin typeface="Courier New"/>
                <a:cs typeface="Courier New"/>
              </a:rPr>
              <a:t>Q32026</a:t>
            </a:r>
            <a:endParaRPr sz="3100" dirty="0">
              <a:latin typeface="Courier New"/>
              <a:cs typeface="Courier New"/>
            </a:endParaRPr>
          </a:p>
          <a:p>
            <a:pPr marL="12065" marR="5080" algn="ctr">
              <a:lnSpc>
                <a:spcPct val="105600"/>
              </a:lnSpc>
              <a:spcBef>
                <a:spcPts val="1150"/>
              </a:spcBef>
            </a:pPr>
            <a:r>
              <a:rPr sz="2050" dirty="0">
                <a:solidFill>
                  <a:srgbClr val="626262"/>
                </a:solidFill>
                <a:latin typeface="Calibri"/>
                <a:cs typeface="Calibri"/>
              </a:rPr>
              <a:t>Establish</a:t>
            </a:r>
            <a:r>
              <a:rPr sz="2050" spc="-114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747474"/>
                </a:solidFill>
                <a:latin typeface="Calibri"/>
                <a:cs typeface="Calibri"/>
              </a:rPr>
              <a:t>core</a:t>
            </a:r>
            <a:r>
              <a:rPr sz="2050" spc="-60" dirty="0">
                <a:solidFill>
                  <a:srgbClr val="747474"/>
                </a:solidFill>
                <a:latin typeface="Calibri"/>
                <a:cs typeface="Calibri"/>
              </a:rPr>
              <a:t> </a:t>
            </a:r>
            <a:r>
              <a:rPr sz="2050" spc="-40" dirty="0">
                <a:solidFill>
                  <a:srgbClr val="666666"/>
                </a:solidFill>
                <a:latin typeface="Calibri"/>
                <a:cs typeface="Calibri"/>
              </a:rPr>
              <a:t>headquarters</a:t>
            </a:r>
            <a:r>
              <a:rPr sz="2050" spc="19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50" spc="-25" dirty="0">
                <a:solidFill>
                  <a:srgbClr val="757575"/>
                </a:solidFill>
                <a:latin typeface="Calibri"/>
                <a:cs typeface="Calibri"/>
              </a:rPr>
              <a:t>and </a:t>
            </a:r>
            <a:r>
              <a:rPr lang="en-US" sz="2050" spc="-60" dirty="0">
                <a:solidFill>
                  <a:srgbClr val="696969"/>
                </a:solidFill>
                <a:latin typeface="Calibri"/>
                <a:cs typeface="Calibri"/>
              </a:rPr>
              <a:t>register</a:t>
            </a:r>
            <a:r>
              <a:rPr lang="en-US" sz="2050" spc="-80" dirty="0">
                <a:solidFill>
                  <a:srgbClr val="696969"/>
                </a:solidFill>
                <a:latin typeface="Calibri"/>
                <a:cs typeface="Calibri"/>
              </a:rPr>
              <a:t> Tenexis Medical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6014" y="4162074"/>
            <a:ext cx="2926080" cy="1832610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960"/>
              </a:spcBef>
            </a:pPr>
            <a:r>
              <a:rPr sz="2800" spc="-355" dirty="0">
                <a:solidFill>
                  <a:srgbClr val="0C0C0C"/>
                </a:solidFill>
                <a:latin typeface="Calibri"/>
                <a:cs typeface="Calibri"/>
              </a:rPr>
              <a:t>Q</a:t>
            </a:r>
            <a:r>
              <a:rPr lang="en-US" sz="2800" spc="-3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800" spc="-355" dirty="0">
                <a:solidFill>
                  <a:srgbClr val="0C0C0C"/>
                </a:solidFill>
                <a:latin typeface="Calibri"/>
                <a:cs typeface="Calibri"/>
              </a:rPr>
              <a:t>1</a:t>
            </a:r>
            <a:r>
              <a:rPr sz="2800" spc="1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800" spc="30" dirty="0">
                <a:solidFill>
                  <a:srgbClr val="080808"/>
                </a:solidFill>
                <a:latin typeface="Calibri"/>
                <a:cs typeface="Calibri"/>
              </a:rPr>
              <a:t>2027</a:t>
            </a:r>
            <a:endParaRPr sz="2800" dirty="0">
              <a:latin typeface="Calibri"/>
              <a:cs typeface="Calibri"/>
            </a:endParaRPr>
          </a:p>
          <a:p>
            <a:pPr marL="12065" marR="5080" algn="ctr">
              <a:lnSpc>
                <a:spcPct val="105600"/>
              </a:lnSpc>
              <a:spcBef>
                <a:spcPts val="1210"/>
              </a:spcBef>
            </a:pPr>
            <a:r>
              <a:rPr sz="2050" spc="-30" dirty="0">
                <a:solidFill>
                  <a:srgbClr val="6677AA"/>
                </a:solidFill>
                <a:latin typeface="Calibri"/>
                <a:cs typeface="Calibri"/>
              </a:rPr>
              <a:t>Acquire</a:t>
            </a:r>
            <a:r>
              <a:rPr sz="2050" spc="-90" dirty="0">
                <a:solidFill>
                  <a:srgbClr val="6677AA"/>
                </a:solidFill>
                <a:latin typeface="Calibri"/>
                <a:cs typeface="Calibri"/>
              </a:rPr>
              <a:t> </a:t>
            </a:r>
            <a:r>
              <a:rPr sz="2050" spc="-70" dirty="0">
                <a:solidFill>
                  <a:srgbClr val="858CA1"/>
                </a:solidFill>
                <a:latin typeface="Calibri"/>
                <a:cs typeface="Calibri"/>
              </a:rPr>
              <a:t>top</a:t>
            </a:r>
            <a:r>
              <a:rPr sz="2050" spc="-90" dirty="0">
                <a:solidFill>
                  <a:srgbClr val="858CA1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696E85"/>
                </a:solidFill>
                <a:latin typeface="Calibri"/>
                <a:cs typeface="Calibri"/>
              </a:rPr>
              <a:t>clinical</a:t>
            </a:r>
            <a:r>
              <a:rPr sz="2050" spc="-75" dirty="0">
                <a:solidFill>
                  <a:srgbClr val="696E85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6E7487"/>
                </a:solidFill>
                <a:latin typeface="Calibri"/>
                <a:cs typeface="Calibri"/>
              </a:rPr>
              <a:t>talent</a:t>
            </a:r>
            <a:r>
              <a:rPr sz="2050" spc="-20" dirty="0">
                <a:solidFill>
                  <a:srgbClr val="6E7487"/>
                </a:solidFill>
                <a:latin typeface="Calibri"/>
                <a:cs typeface="Calibri"/>
              </a:rPr>
              <a:t> </a:t>
            </a:r>
            <a:r>
              <a:rPr sz="2050" spc="-25" dirty="0">
                <a:solidFill>
                  <a:srgbClr val="8287A1"/>
                </a:solidFill>
                <a:latin typeface="Calibri"/>
                <a:cs typeface="Calibri"/>
              </a:rPr>
              <a:t>to </a:t>
            </a:r>
            <a:r>
              <a:rPr sz="2050" spc="-10" dirty="0">
                <a:solidFill>
                  <a:srgbClr val="626262"/>
                </a:solidFill>
                <a:latin typeface="Calibri"/>
                <a:cs typeface="Calibri"/>
              </a:rPr>
              <a:t>scale</a:t>
            </a:r>
            <a:r>
              <a:rPr sz="2050" spc="-60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626262"/>
                </a:solidFill>
                <a:latin typeface="Calibri"/>
                <a:cs typeface="Calibri"/>
              </a:rPr>
              <a:t>high-</a:t>
            </a:r>
            <a:r>
              <a:rPr sz="2050" spc="-10" dirty="0">
                <a:solidFill>
                  <a:srgbClr val="626262"/>
                </a:solidFill>
                <a:latin typeface="Calibri"/>
                <a:cs typeface="Calibri"/>
              </a:rPr>
              <a:t>performing </a:t>
            </a:r>
            <a:r>
              <a:rPr sz="2050" spc="-45" dirty="0">
                <a:solidFill>
                  <a:srgbClr val="646464"/>
                </a:solidFill>
                <a:latin typeface="Calibri"/>
                <a:cs typeface="Calibri"/>
              </a:rPr>
              <a:t>operational</a:t>
            </a:r>
            <a:r>
              <a:rPr sz="2050" spc="65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2050" spc="-50" dirty="0">
                <a:solidFill>
                  <a:srgbClr val="6B6B6B"/>
                </a:solidFill>
                <a:latin typeface="Calibri"/>
                <a:cs typeface="Calibri"/>
              </a:rPr>
              <a:t>support</a:t>
            </a:r>
            <a:r>
              <a:rPr sz="2050" spc="-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6D6D6D"/>
                </a:solidFill>
                <a:latin typeface="Calibri"/>
                <a:cs typeface="Calibri"/>
              </a:rPr>
              <a:t>teams.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27611" y="7221373"/>
            <a:ext cx="2945765" cy="15970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151515"/>
                </a:solidFill>
                <a:latin typeface="Calibri"/>
                <a:cs typeface="Calibri"/>
              </a:rPr>
              <a:t>Q3</a:t>
            </a:r>
            <a:r>
              <a:rPr sz="2800" spc="7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800" spc="30" dirty="0">
                <a:solidFill>
                  <a:srgbClr val="050505"/>
                </a:solidFill>
                <a:latin typeface="Calibri"/>
                <a:cs typeface="Calibri"/>
              </a:rPr>
              <a:t>2027</a:t>
            </a:r>
            <a:endParaRPr sz="2800">
              <a:latin typeface="Calibri"/>
              <a:cs typeface="Calibri"/>
            </a:endParaRPr>
          </a:p>
          <a:p>
            <a:pPr marL="12065" marR="5080" algn="ctr">
              <a:lnSpc>
                <a:spcPct val="113900"/>
              </a:lnSpc>
              <a:spcBef>
                <a:spcPts val="1180"/>
              </a:spcBef>
            </a:pPr>
            <a:r>
              <a:rPr sz="1900" dirty="0">
                <a:solidFill>
                  <a:srgbClr val="6B6B6B"/>
                </a:solidFill>
                <a:latin typeface="Calibri"/>
                <a:cs typeface="Calibri"/>
              </a:rPr>
              <a:t>Expand</a:t>
            </a:r>
            <a:r>
              <a:rPr sz="1900" spc="27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6D6D6D"/>
                </a:solidFill>
                <a:latin typeface="Calibri"/>
                <a:cs typeface="Calibri"/>
              </a:rPr>
              <a:t>network</a:t>
            </a:r>
            <a:r>
              <a:rPr sz="1900" spc="380" dirty="0">
                <a:solidFill>
                  <a:srgbClr val="6D6D6D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696969"/>
                </a:solidFill>
                <a:latin typeface="Calibri"/>
                <a:cs typeface="Calibri"/>
              </a:rPr>
              <a:t>multi-</a:t>
            </a:r>
            <a:r>
              <a:rPr sz="1900" spc="-10" dirty="0">
                <a:solidFill>
                  <a:srgbClr val="696969"/>
                </a:solidFill>
                <a:latin typeface="Calibri"/>
                <a:cs typeface="Calibri"/>
              </a:rPr>
              <a:t>state. </a:t>
            </a:r>
            <a:r>
              <a:rPr sz="1900" dirty="0">
                <a:solidFill>
                  <a:srgbClr val="646464"/>
                </a:solidFill>
                <a:latin typeface="Calibri"/>
                <a:cs typeface="Calibri"/>
              </a:rPr>
              <a:t>establishing</a:t>
            </a:r>
            <a:r>
              <a:rPr sz="1900" spc="450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1900" spc="50" dirty="0">
                <a:solidFill>
                  <a:srgbClr val="757575"/>
                </a:solidFill>
                <a:latin typeface="Calibri"/>
                <a:cs typeface="Calibri"/>
              </a:rPr>
              <a:t>key</a:t>
            </a:r>
            <a:r>
              <a:rPr sz="1900" spc="16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666666"/>
                </a:solidFill>
                <a:latin typeface="Calibri"/>
                <a:cs typeface="Calibri"/>
              </a:rPr>
              <a:t>regional </a:t>
            </a:r>
            <a:r>
              <a:rPr sz="1900" dirty="0">
                <a:solidFill>
                  <a:srgbClr val="6B6B6B"/>
                </a:solidFill>
                <a:latin typeface="Calibri"/>
                <a:cs typeface="Calibri"/>
              </a:rPr>
              <a:t>distribution</a:t>
            </a:r>
            <a:r>
              <a:rPr sz="1900" spc="40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626262"/>
                </a:solidFill>
                <a:latin typeface="Calibri"/>
                <a:cs typeface="Calibri"/>
              </a:rPr>
              <a:t>warehouses.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00456" y="4184693"/>
            <a:ext cx="3230880" cy="1809750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1885"/>
              </a:spcBef>
            </a:pPr>
            <a:r>
              <a:rPr sz="2700" spc="-204" dirty="0">
                <a:solidFill>
                  <a:srgbClr val="0E0E0E"/>
                </a:solidFill>
                <a:latin typeface="Cambria"/>
                <a:cs typeface="Cambria"/>
              </a:rPr>
              <a:t>Q1</a:t>
            </a:r>
            <a:r>
              <a:rPr sz="2700" spc="5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070707"/>
                </a:solidFill>
                <a:latin typeface="Cambria"/>
                <a:cs typeface="Cambria"/>
              </a:rPr>
              <a:t>2028</a:t>
            </a:r>
            <a:endParaRPr sz="2700">
              <a:latin typeface="Cambria"/>
              <a:cs typeface="Cambria"/>
            </a:endParaRPr>
          </a:p>
          <a:p>
            <a:pPr marL="12700" marR="5080" algn="ctr">
              <a:lnSpc>
                <a:spcPct val="105600"/>
              </a:lnSpc>
              <a:spcBef>
                <a:spcPts val="1225"/>
              </a:spcBef>
            </a:pPr>
            <a:r>
              <a:rPr sz="2050" dirty="0">
                <a:solidFill>
                  <a:srgbClr val="646464"/>
                </a:solidFill>
                <a:latin typeface="Calibri"/>
                <a:cs typeface="Calibri"/>
              </a:rPr>
              <a:t>Integrate</a:t>
            </a:r>
            <a:r>
              <a:rPr sz="2050" spc="15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2050" spc="-30" dirty="0">
                <a:solidFill>
                  <a:srgbClr val="5B5B5B"/>
                </a:solidFill>
                <a:latin typeface="Calibri"/>
                <a:cs typeface="Calibri"/>
              </a:rPr>
              <a:t>specialized.</a:t>
            </a:r>
            <a:r>
              <a:rPr sz="2050" spc="-10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2050" spc="-80" dirty="0">
                <a:solidFill>
                  <a:srgbClr val="696969"/>
                </a:solidFill>
                <a:latin typeface="Calibri"/>
                <a:cs typeface="Calibri"/>
              </a:rPr>
              <a:t>hands-</a:t>
            </a:r>
            <a:r>
              <a:rPr sz="2050" spc="-25" dirty="0">
                <a:solidFill>
                  <a:srgbClr val="696969"/>
                </a:solidFill>
                <a:latin typeface="Calibri"/>
                <a:cs typeface="Calibri"/>
              </a:rPr>
              <a:t>on </a:t>
            </a:r>
            <a:r>
              <a:rPr sz="2050" spc="-20" dirty="0">
                <a:solidFill>
                  <a:srgbClr val="646464"/>
                </a:solidFill>
                <a:latin typeface="Calibri"/>
                <a:cs typeface="Calibri"/>
              </a:rPr>
              <a:t>recovery</a:t>
            </a:r>
            <a:r>
              <a:rPr sz="2050" spc="-100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6D6D6D"/>
                </a:solidFill>
                <a:latin typeface="Calibri"/>
                <a:cs typeface="Calibri"/>
              </a:rPr>
              <a:t>clinics</a:t>
            </a:r>
            <a:r>
              <a:rPr sz="2050" spc="-5" dirty="0">
                <a:solidFill>
                  <a:srgbClr val="6D6D6D"/>
                </a:solidFill>
                <a:latin typeface="Calibri"/>
                <a:cs typeface="Calibri"/>
              </a:rPr>
              <a:t> </a:t>
            </a:r>
            <a:r>
              <a:rPr sz="2050" spc="-55" dirty="0">
                <a:solidFill>
                  <a:srgbClr val="7E8CAA"/>
                </a:solidFill>
                <a:latin typeface="Calibri"/>
                <a:cs typeface="Calibri"/>
              </a:rPr>
              <a:t>to</a:t>
            </a:r>
            <a:r>
              <a:rPr sz="2050" spc="-114" dirty="0">
                <a:solidFill>
                  <a:srgbClr val="7E8CAA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676767"/>
                </a:solidFill>
                <a:latin typeface="Calibri"/>
                <a:cs typeface="Calibri"/>
              </a:rPr>
              <a:t>deliver</a:t>
            </a:r>
            <a:r>
              <a:rPr sz="2050" spc="-55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696969"/>
                </a:solidFill>
                <a:latin typeface="Calibri"/>
                <a:cs typeface="Calibri"/>
              </a:rPr>
              <a:t>true </a:t>
            </a:r>
            <a:r>
              <a:rPr sz="2050" spc="-55" dirty="0">
                <a:solidFill>
                  <a:srgbClr val="6B6B6B"/>
                </a:solidFill>
                <a:latin typeface="Calibri"/>
                <a:cs typeface="Calibri"/>
              </a:rPr>
              <a:t>post-</a:t>
            </a:r>
            <a:r>
              <a:rPr sz="2050" dirty="0">
                <a:solidFill>
                  <a:srgbClr val="6B6B6B"/>
                </a:solidFill>
                <a:latin typeface="Calibri"/>
                <a:cs typeface="Calibri"/>
              </a:rPr>
              <a:t>op</a:t>
            </a:r>
            <a:r>
              <a:rPr sz="2050" spc="-8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050" spc="-30" dirty="0">
                <a:solidFill>
                  <a:srgbClr val="646464"/>
                </a:solidFill>
                <a:latin typeface="Calibri"/>
                <a:cs typeface="Calibri"/>
              </a:rPr>
              <a:t>patient</a:t>
            </a:r>
            <a:r>
              <a:rPr sz="2050" spc="-45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646464"/>
                </a:solidFill>
                <a:latin typeface="Calibri"/>
                <a:cs typeface="Calibri"/>
              </a:rPr>
              <a:t>care.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29345"/>
            <a:ext cx="20104100" cy="4580003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69541" y="8706304"/>
            <a:ext cx="15965020" cy="1220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</a:pPr>
            <a:r>
              <a:rPr lang="en-US" sz="59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cs"/>
              </a:rPr>
              <a:t>Join</a:t>
            </a:r>
            <a:r>
              <a:rPr lang="en-US" sz="5900" kern="1200" spc="-1025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cs"/>
              </a:rPr>
              <a:t> </a:t>
            </a:r>
            <a:r>
              <a:rPr lang="en-US" sz="5900" kern="1200" spc="-409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cs"/>
              </a:rPr>
              <a:t>Our</a:t>
            </a:r>
            <a:r>
              <a:rPr lang="en-US" sz="5900" kern="1200" spc="-565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cs"/>
              </a:rPr>
              <a:t> </a:t>
            </a:r>
            <a:r>
              <a:rPr lang="en-US" sz="5900" kern="1200" spc="-1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cs"/>
              </a:rPr>
              <a:t>Mission</a:t>
            </a:r>
            <a:endParaRPr lang="en-US" sz="5900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1110" y="9926421"/>
            <a:ext cx="12062458" cy="6021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rtl="0">
              <a:lnSpc>
                <a:spcPct val="90000"/>
              </a:lnSpc>
              <a:spcBef>
                <a:spcPts val="1000"/>
              </a:spcBef>
            </a:pPr>
            <a:r>
              <a:rPr lang="en-US" sz="2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Let's</a:t>
            </a:r>
            <a:r>
              <a:rPr lang="en-US" sz="2600" kern="1200" spc="-185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 spc="-55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en-US" sz="2600" kern="1200" spc="-125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600" kern="1200" spc="-125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en-US" sz="2600" kern="1200" spc="-11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 spc="-2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600" kern="1200" spc="-114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 spc="-3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orthopedic</a:t>
            </a:r>
            <a:r>
              <a:rPr lang="en-US" sz="2600" kern="1200" spc="-85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 spc="-2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clinical</a:t>
            </a:r>
            <a:r>
              <a:rPr lang="en-US" sz="2600" kern="1200" spc="-114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 spc="-3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excellence</a:t>
            </a:r>
            <a:r>
              <a:rPr lang="en-US" sz="2600" kern="1200" spc="8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kern="1200" spc="-1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together.</a:t>
            </a:r>
            <a:endParaRPr lang="en-US" sz="2600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E38CB3-090A-2161-6620-E5274E224C0F}"/>
              </a:ext>
            </a:extLst>
          </p:cNvPr>
          <p:cNvSpPr/>
          <p:nvPr/>
        </p:nvSpPr>
        <p:spPr>
          <a:xfrm>
            <a:off x="5327650" y="3887525"/>
            <a:ext cx="9677400" cy="17671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IN" sz="5400" b="1" spc="-600" dirty="0">
                <a:solidFill>
                  <a:schemeClr val="tx1"/>
                </a:solidFill>
                <a:latin typeface="Amasis MT Pro Black" panose="020F0502020204030204" pitchFamily="18" charset="0"/>
                <a:cs typeface="Arial MT"/>
              </a:rPr>
              <a:t>tenexis2026@gmail.com</a:t>
            </a:r>
          </a:p>
          <a:p>
            <a:pPr marL="12700" algn="ctr">
              <a:spcBef>
                <a:spcPts val="110"/>
              </a:spcBef>
            </a:pPr>
            <a:r>
              <a:rPr lang="en-IN" sz="5400" b="1" spc="-600" dirty="0">
                <a:solidFill>
                  <a:schemeClr val="tx1"/>
                </a:solidFill>
                <a:latin typeface="Amasis MT Pro Black" panose="020F0502020204030204" pitchFamily="18" charset="0"/>
                <a:cs typeface="Arial MT"/>
              </a:rPr>
              <a:t>+91 96677 99507</a:t>
            </a:r>
            <a:endParaRPr lang="en-IN" sz="5400" b="1" dirty="0">
              <a:solidFill>
                <a:schemeClr val="tx1"/>
              </a:solidFill>
              <a:latin typeface="Amasis MT Pro Black" panose="020F0502020204030204" pitchFamily="18" charset="0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FAFA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673</Words>
  <Application>Microsoft Office PowerPoint</Application>
  <PresentationFormat>Custom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Amasis MT Pro Black</vt:lpstr>
      <vt:lpstr>Arial</vt:lpstr>
      <vt:lpstr>Arial MT</vt:lpstr>
      <vt:lpstr>Calibri</vt:lpstr>
      <vt:lpstr>Cambria</vt:lpstr>
      <vt:lpstr>Courier New</vt:lpstr>
      <vt:lpstr>Office Theme</vt:lpstr>
      <vt:lpstr>PowerPoint Presentation</vt:lpstr>
      <vt:lpstr>Meet the Founders</vt:lpstr>
      <vt:lpstr>Taha: Global Clinical Specialist</vt:lpstr>
      <vt:lpstr>Dr. Khan: Rehabilitation Expert</vt:lpstr>
      <vt:lpstr>The Orthopedic Gap</vt:lpstr>
      <vt:lpstr>Implant Provider vs. Partner</vt:lpstr>
      <vt:lpstr>Our Strategic Focus Areas</vt:lpstr>
      <vt:lpstr>Knowledge Sharing &amp; Training</vt:lpstr>
      <vt:lpstr>End-to-End OR Support</vt:lpstr>
      <vt:lpstr>Our Current Potential Suppliers</vt:lpstr>
      <vt:lpstr>Rapidly Growing Market</vt:lpstr>
      <vt:lpstr>Tenexis Roodmop to Exponsion</vt:lpstr>
      <vt:lpstr>Join Our 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Taha Malik</cp:lastModifiedBy>
  <cp:revision>3</cp:revision>
  <dcterms:created xsi:type="dcterms:W3CDTF">2026-06-08T11:08:37Z</dcterms:created>
  <dcterms:modified xsi:type="dcterms:W3CDTF">2026-06-08T12:05:35Z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2026-06-08T00:00:00Z</vt:filetime>
  </property>
  <property fmtid="{D5CDD505-2E9C-101B-9397-08002B2CF9AE}" pid="4" name="LastSaved">
    <vt:filetime>2026-06-08T00:00:00Z</vt:filetime>
  </property>
</Properties>
</file>